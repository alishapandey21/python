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oboto"/>
      <p:regular r:id="rId23"/>
      <p:bold r:id="rId24"/>
      <p:italic r:id="rId25"/>
      <p:boldItalic r:id="rId26"/>
    </p:embeddedFont>
    <p:embeddedFont>
      <p:font typeface="Merriweather"/>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Merriweather-bold.fntdata"/><Relationship Id="rId27" Type="http://schemas.openxmlformats.org/officeDocument/2006/relationships/font" Target="fonts/Merriweather-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Merriweather-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de5b447b41_0_3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de5b447b41_0_3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de5b447b41_0_3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de5b447b41_0_3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de5b447b41_0_3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de5b447b41_0_3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01701e8e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01701e8e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01701e8e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01701e8e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01701e8e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01701e8e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01701e8e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01701e8e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01701e8e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01701e8e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edfca403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edfca403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e65b7052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e65b7052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e01701e8e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e01701e8e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e65b7052f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e65b7052f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01701e8e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01701e8e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01701e8e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e01701e8e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01701e8e0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01701e8e0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01701e8e0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01701e8e0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01701e8e0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e01701e8e0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PYTHON -2 </a:t>
            </a:r>
            <a:endParaRPr/>
          </a:p>
        </p:txBody>
      </p:sp>
      <p:sp>
        <p:nvSpPr>
          <p:cNvPr id="65" name="Google Shape;65;p13"/>
          <p:cNvSpPr txBox="1"/>
          <p:nvPr/>
        </p:nvSpPr>
        <p:spPr>
          <a:xfrm>
            <a:off x="6566450" y="4503825"/>
            <a:ext cx="2519400" cy="49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lt1"/>
                </a:solidFill>
                <a:latin typeface="Times New Roman"/>
                <a:ea typeface="Times New Roman"/>
                <a:cs typeface="Times New Roman"/>
                <a:sym typeface="Times New Roman"/>
              </a:rPr>
              <a:t>PRITU A PATEL</a:t>
            </a:r>
            <a:endParaRPr sz="2100">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KNN(K - NEAREST NEIGHBORS)?</a:t>
            </a:r>
            <a:endParaRPr/>
          </a:p>
        </p:txBody>
      </p:sp>
      <p:sp>
        <p:nvSpPr>
          <p:cNvPr id="71" name="Google Shape;71;p14"/>
          <p:cNvSpPr txBox="1"/>
          <p:nvPr/>
        </p:nvSpPr>
        <p:spPr>
          <a:xfrm>
            <a:off x="311725" y="1514325"/>
            <a:ext cx="8304300" cy="35769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550">
                <a:solidFill>
                  <a:srgbClr val="0A0A0A"/>
                </a:solidFill>
                <a:highlight>
                  <a:srgbClr val="FFFFFF"/>
                </a:highlight>
                <a:latin typeface="Times New Roman"/>
                <a:ea typeface="Times New Roman"/>
                <a:cs typeface="Times New Roman"/>
                <a:sym typeface="Times New Roman"/>
              </a:rPr>
              <a:t>K‑Nearest Neighbor (KNN) is a simple and widely used machine learning technique for </a:t>
            </a:r>
            <a:r>
              <a:rPr b="1" lang="en" sz="1550">
                <a:solidFill>
                  <a:srgbClr val="0A0A0A"/>
                </a:solidFill>
                <a:highlight>
                  <a:srgbClr val="FFFFFF"/>
                </a:highlight>
                <a:latin typeface="Times New Roman"/>
                <a:ea typeface="Times New Roman"/>
                <a:cs typeface="Times New Roman"/>
                <a:sym typeface="Times New Roman"/>
              </a:rPr>
              <a:t>classification </a:t>
            </a:r>
            <a:r>
              <a:rPr lang="en" sz="1550">
                <a:solidFill>
                  <a:srgbClr val="0A0A0A"/>
                </a:solidFill>
                <a:highlight>
                  <a:srgbClr val="FFFFFF"/>
                </a:highlight>
                <a:latin typeface="Times New Roman"/>
                <a:ea typeface="Times New Roman"/>
                <a:cs typeface="Times New Roman"/>
                <a:sym typeface="Times New Roman"/>
              </a:rPr>
              <a:t>and </a:t>
            </a:r>
            <a:r>
              <a:rPr b="1" lang="en" sz="1550">
                <a:solidFill>
                  <a:srgbClr val="0A0A0A"/>
                </a:solidFill>
                <a:highlight>
                  <a:srgbClr val="FFFFFF"/>
                </a:highlight>
                <a:latin typeface="Times New Roman"/>
                <a:ea typeface="Times New Roman"/>
                <a:cs typeface="Times New Roman"/>
                <a:sym typeface="Times New Roman"/>
              </a:rPr>
              <a:t>regression </a:t>
            </a:r>
            <a:r>
              <a:rPr lang="en" sz="1550">
                <a:solidFill>
                  <a:srgbClr val="0A0A0A"/>
                </a:solidFill>
                <a:highlight>
                  <a:srgbClr val="FFFFFF"/>
                </a:highlight>
                <a:latin typeface="Times New Roman"/>
                <a:ea typeface="Times New Roman"/>
                <a:cs typeface="Times New Roman"/>
                <a:sym typeface="Times New Roman"/>
              </a:rPr>
              <a:t>tasks. </a:t>
            </a:r>
            <a:endParaRPr sz="1550">
              <a:solidFill>
                <a:srgbClr val="0A0A0A"/>
              </a:solidFill>
              <a:highlight>
                <a:srgbClr val="FFFFFF"/>
              </a:highlight>
              <a:latin typeface="Times New Roman"/>
              <a:ea typeface="Times New Roman"/>
              <a:cs typeface="Times New Roman"/>
              <a:sym typeface="Times New Roman"/>
            </a:endParaRPr>
          </a:p>
          <a:p>
            <a:pPr indent="0" lvl="0" marL="0" rtl="0" algn="l">
              <a:lnSpc>
                <a:spcPct val="120000"/>
              </a:lnSpc>
              <a:spcBef>
                <a:spcPts val="800"/>
              </a:spcBef>
              <a:spcAft>
                <a:spcPts val="0"/>
              </a:spcAft>
              <a:buNone/>
            </a:pPr>
            <a:r>
              <a:rPr lang="en" sz="1550">
                <a:solidFill>
                  <a:srgbClr val="0A0A0A"/>
                </a:solidFill>
                <a:highlight>
                  <a:srgbClr val="FFFFFF"/>
                </a:highlight>
                <a:latin typeface="Times New Roman"/>
                <a:ea typeface="Times New Roman"/>
                <a:cs typeface="Times New Roman"/>
                <a:sym typeface="Times New Roman"/>
              </a:rPr>
              <a:t>It works by </a:t>
            </a:r>
            <a:r>
              <a:rPr b="1" lang="en" sz="1550">
                <a:solidFill>
                  <a:srgbClr val="0A0A0A"/>
                </a:solidFill>
                <a:highlight>
                  <a:srgbClr val="FFFFFF"/>
                </a:highlight>
                <a:latin typeface="Times New Roman"/>
                <a:ea typeface="Times New Roman"/>
                <a:cs typeface="Times New Roman"/>
                <a:sym typeface="Times New Roman"/>
              </a:rPr>
              <a:t>identifying the </a:t>
            </a:r>
            <a:r>
              <a:rPr b="1" i="1" lang="en" sz="1550">
                <a:solidFill>
                  <a:srgbClr val="0A0A0A"/>
                </a:solidFill>
                <a:highlight>
                  <a:srgbClr val="FFFFFF"/>
                </a:highlight>
                <a:latin typeface="Times New Roman"/>
                <a:ea typeface="Times New Roman"/>
                <a:cs typeface="Times New Roman"/>
                <a:sym typeface="Times New Roman"/>
              </a:rPr>
              <a:t>K</a:t>
            </a:r>
            <a:r>
              <a:rPr b="1" lang="en" sz="1550">
                <a:solidFill>
                  <a:srgbClr val="0A0A0A"/>
                </a:solidFill>
                <a:highlight>
                  <a:srgbClr val="FFFFFF"/>
                </a:highlight>
                <a:latin typeface="Times New Roman"/>
                <a:ea typeface="Times New Roman"/>
                <a:cs typeface="Times New Roman"/>
                <a:sym typeface="Times New Roman"/>
              </a:rPr>
              <a:t> closest data points</a:t>
            </a:r>
            <a:r>
              <a:rPr lang="en" sz="1550">
                <a:solidFill>
                  <a:srgbClr val="0A0A0A"/>
                </a:solidFill>
                <a:highlight>
                  <a:srgbClr val="FFFFFF"/>
                </a:highlight>
                <a:latin typeface="Times New Roman"/>
                <a:ea typeface="Times New Roman"/>
                <a:cs typeface="Times New Roman"/>
                <a:sym typeface="Times New Roman"/>
              </a:rPr>
              <a:t> to a given input and making predictions based on the </a:t>
            </a:r>
            <a:r>
              <a:rPr b="1" lang="en" sz="1550">
                <a:solidFill>
                  <a:srgbClr val="0A0A0A"/>
                </a:solidFill>
                <a:highlight>
                  <a:srgbClr val="FFFFFF"/>
                </a:highlight>
                <a:latin typeface="Times New Roman"/>
                <a:ea typeface="Times New Roman"/>
                <a:cs typeface="Times New Roman"/>
                <a:sym typeface="Times New Roman"/>
              </a:rPr>
              <a:t>majority class or average value of those neighbors.</a:t>
            </a:r>
            <a:endParaRPr b="1" sz="1550">
              <a:solidFill>
                <a:srgbClr val="0A0A0A"/>
              </a:solidFill>
              <a:highlight>
                <a:srgbClr val="FFFFFF"/>
              </a:highlight>
              <a:latin typeface="Times New Roman"/>
              <a:ea typeface="Times New Roman"/>
              <a:cs typeface="Times New Roman"/>
              <a:sym typeface="Times New Roman"/>
            </a:endParaRPr>
          </a:p>
          <a:p>
            <a:pPr indent="-327025" lvl="0" marL="685800" rtl="0" algn="l">
              <a:lnSpc>
                <a:spcPct val="158000"/>
              </a:lnSpc>
              <a:spcBef>
                <a:spcPts val="800"/>
              </a:spcBef>
              <a:spcAft>
                <a:spcPts val="0"/>
              </a:spcAft>
              <a:buClr>
                <a:srgbClr val="0A0A0A"/>
              </a:buClr>
              <a:buSzPts val="1550"/>
              <a:buFont typeface="Times New Roman"/>
              <a:buChar char="●"/>
            </a:pPr>
            <a:r>
              <a:rPr lang="en" sz="1550">
                <a:solidFill>
                  <a:srgbClr val="0A0A0A"/>
                </a:solidFill>
                <a:highlight>
                  <a:srgbClr val="FFFFFF"/>
                </a:highlight>
                <a:latin typeface="Times New Roman"/>
                <a:ea typeface="Times New Roman"/>
                <a:cs typeface="Times New Roman"/>
                <a:sym typeface="Times New Roman"/>
              </a:rPr>
              <a:t>Classifies data based on similarity with nearby data points</a:t>
            </a:r>
            <a:endParaRPr sz="1550">
              <a:solidFill>
                <a:srgbClr val="0A0A0A"/>
              </a:solidFill>
              <a:highlight>
                <a:srgbClr val="FFFFFF"/>
              </a:highlight>
              <a:latin typeface="Times New Roman"/>
              <a:ea typeface="Times New Roman"/>
              <a:cs typeface="Times New Roman"/>
              <a:sym typeface="Times New Roman"/>
            </a:endParaRPr>
          </a:p>
          <a:p>
            <a:pPr indent="-317500" lvl="0" marL="685800" rtl="0" algn="just">
              <a:lnSpc>
                <a:spcPct val="158000"/>
              </a:lnSpc>
              <a:spcBef>
                <a:spcPts val="0"/>
              </a:spcBef>
              <a:spcAft>
                <a:spcPts val="0"/>
              </a:spcAft>
              <a:buClr>
                <a:srgbClr val="0A0A0A"/>
              </a:buClr>
              <a:buSzPts val="1400"/>
              <a:buFont typeface="Times New Roman"/>
              <a:buChar char="●"/>
            </a:pPr>
            <a:r>
              <a:rPr lang="en">
                <a:solidFill>
                  <a:srgbClr val="0A0A0A"/>
                </a:solidFill>
                <a:highlight>
                  <a:srgbClr val="FFFFFF"/>
                </a:highlight>
                <a:latin typeface="Times New Roman"/>
                <a:ea typeface="Times New Roman"/>
                <a:cs typeface="Times New Roman"/>
                <a:sym typeface="Times New Roman"/>
              </a:rPr>
              <a:t>Uses distance metrics like Euclidean distance to find nearest neighbor</a:t>
            </a:r>
            <a:r>
              <a:rPr lang="en">
                <a:solidFill>
                  <a:srgbClr val="0A0A0A"/>
                </a:solidFill>
                <a:highlight>
                  <a:srgbClr val="FFFFFF"/>
                </a:highlight>
                <a:latin typeface="Times New Roman"/>
                <a:ea typeface="Times New Roman"/>
                <a:cs typeface="Times New Roman"/>
                <a:sym typeface="Times New Roman"/>
              </a:rPr>
              <a:t>s</a:t>
            </a:r>
            <a:endParaRPr>
              <a:solidFill>
                <a:srgbClr val="0A0A0A"/>
              </a:solidFill>
              <a:highlight>
                <a:srgbClr val="FFFFFF"/>
              </a:highlight>
              <a:latin typeface="Times New Roman"/>
              <a:ea typeface="Times New Roman"/>
              <a:cs typeface="Times New Roman"/>
              <a:sym typeface="Times New Roman"/>
            </a:endParaRPr>
          </a:p>
          <a:p>
            <a:pPr indent="0" lvl="0" marL="0" rtl="0" algn="just">
              <a:lnSpc>
                <a:spcPct val="158000"/>
              </a:lnSpc>
              <a:spcBef>
                <a:spcPts val="0"/>
              </a:spcBef>
              <a:spcAft>
                <a:spcPts val="0"/>
              </a:spcAft>
              <a:buNone/>
            </a:pPr>
            <a:r>
              <a:rPr lang="en">
                <a:solidFill>
                  <a:srgbClr val="0A0A0A"/>
                </a:solidFill>
                <a:highlight>
                  <a:srgbClr val="FFFFFF"/>
                </a:highlight>
                <a:latin typeface="Times New Roman"/>
                <a:ea typeface="Times New Roman"/>
                <a:cs typeface="Times New Roman"/>
                <a:sym typeface="Times New Roman"/>
              </a:rPr>
              <a:t>KNN is also </a:t>
            </a:r>
            <a:r>
              <a:rPr b="1" lang="en">
                <a:solidFill>
                  <a:srgbClr val="0A0A0A"/>
                </a:solidFill>
                <a:highlight>
                  <a:srgbClr val="FFFFFF"/>
                </a:highlight>
                <a:latin typeface="Times New Roman"/>
                <a:ea typeface="Times New Roman"/>
                <a:cs typeface="Times New Roman"/>
                <a:sym typeface="Times New Roman"/>
              </a:rPr>
              <a:t>called as a lazy learner algorithm</a:t>
            </a:r>
            <a:r>
              <a:rPr lang="en">
                <a:solidFill>
                  <a:srgbClr val="0A0A0A"/>
                </a:solidFill>
                <a:highlight>
                  <a:srgbClr val="FFFFFF"/>
                </a:highlight>
                <a:latin typeface="Times New Roman"/>
                <a:ea typeface="Times New Roman"/>
                <a:cs typeface="Times New Roman"/>
                <a:sym typeface="Times New Roman"/>
              </a:rPr>
              <a:t> because it does </a:t>
            </a:r>
            <a:r>
              <a:rPr b="1" lang="en">
                <a:solidFill>
                  <a:srgbClr val="0A0A0A"/>
                </a:solidFill>
                <a:highlight>
                  <a:srgbClr val="FFFFFF"/>
                </a:highlight>
                <a:latin typeface="Times New Roman"/>
                <a:ea typeface="Times New Roman"/>
                <a:cs typeface="Times New Roman"/>
                <a:sym typeface="Times New Roman"/>
              </a:rPr>
              <a:t>not learn from the training set immediately </a:t>
            </a:r>
            <a:r>
              <a:rPr lang="en">
                <a:solidFill>
                  <a:srgbClr val="0A0A0A"/>
                </a:solidFill>
                <a:highlight>
                  <a:srgbClr val="FFFFFF"/>
                </a:highlight>
                <a:latin typeface="Times New Roman"/>
                <a:ea typeface="Times New Roman"/>
                <a:cs typeface="Times New Roman"/>
                <a:sym typeface="Times New Roman"/>
              </a:rPr>
              <a:t>instead it </a:t>
            </a:r>
            <a:r>
              <a:rPr b="1" lang="en">
                <a:solidFill>
                  <a:srgbClr val="0A0A0A"/>
                </a:solidFill>
                <a:highlight>
                  <a:srgbClr val="FFFFFF"/>
                </a:highlight>
                <a:latin typeface="Times New Roman"/>
                <a:ea typeface="Times New Roman"/>
                <a:cs typeface="Times New Roman"/>
                <a:sym typeface="Times New Roman"/>
              </a:rPr>
              <a:t>stores the entire dataset</a:t>
            </a:r>
            <a:r>
              <a:rPr lang="en">
                <a:solidFill>
                  <a:srgbClr val="0A0A0A"/>
                </a:solidFill>
                <a:highlight>
                  <a:srgbClr val="FFFFFF"/>
                </a:highlight>
                <a:latin typeface="Times New Roman"/>
                <a:ea typeface="Times New Roman"/>
                <a:cs typeface="Times New Roman"/>
                <a:sym typeface="Times New Roman"/>
              </a:rPr>
              <a:t> and</a:t>
            </a:r>
            <a:r>
              <a:rPr b="1" lang="en">
                <a:solidFill>
                  <a:srgbClr val="0A0A0A"/>
                </a:solidFill>
                <a:highlight>
                  <a:srgbClr val="FFFFFF"/>
                </a:highlight>
                <a:latin typeface="Times New Roman"/>
                <a:ea typeface="Times New Roman"/>
                <a:cs typeface="Times New Roman"/>
                <a:sym typeface="Times New Roman"/>
              </a:rPr>
              <a:t> performs computations only at the time of classification</a:t>
            </a:r>
            <a:r>
              <a:rPr lang="en">
                <a:solidFill>
                  <a:srgbClr val="0A0A0A"/>
                </a:solidFill>
                <a:highlight>
                  <a:srgbClr val="FFFFFF"/>
                </a:highlight>
                <a:latin typeface="Times New Roman"/>
                <a:ea typeface="Times New Roman"/>
                <a:cs typeface="Times New Roman"/>
                <a:sym typeface="Times New Roman"/>
              </a:rPr>
              <a:t>.</a:t>
            </a:r>
            <a:endParaRPr>
              <a:solidFill>
                <a:srgbClr val="0A0A0A"/>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a:t>
            </a:r>
            <a:endParaRPr/>
          </a:p>
        </p:txBody>
      </p:sp>
      <p:pic>
        <p:nvPicPr>
          <p:cNvPr id="77" name="Google Shape;77;p15"/>
          <p:cNvPicPr preferRelativeResize="0"/>
          <p:nvPr/>
        </p:nvPicPr>
        <p:blipFill>
          <a:blip r:embed="rId3">
            <a:alphaModFix/>
          </a:blip>
          <a:stretch>
            <a:fillRect/>
          </a:stretch>
        </p:blipFill>
        <p:spPr>
          <a:xfrm>
            <a:off x="1414526" y="1409875"/>
            <a:ext cx="7007150" cy="349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a:t>
            </a:r>
            <a:endParaRPr/>
          </a:p>
        </p:txBody>
      </p:sp>
      <p:pic>
        <p:nvPicPr>
          <p:cNvPr id="83" name="Google Shape;83;p16"/>
          <p:cNvPicPr preferRelativeResize="0"/>
          <p:nvPr/>
        </p:nvPicPr>
        <p:blipFill>
          <a:blip r:embed="rId3">
            <a:alphaModFix/>
          </a:blip>
          <a:stretch>
            <a:fillRect/>
          </a:stretch>
        </p:blipFill>
        <p:spPr>
          <a:xfrm>
            <a:off x="979075" y="1339575"/>
            <a:ext cx="7185900" cy="3592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a:t>
            </a:r>
            <a:endParaRPr/>
          </a:p>
        </p:txBody>
      </p:sp>
      <p:pic>
        <p:nvPicPr>
          <p:cNvPr id="89" name="Google Shape;89;p17"/>
          <p:cNvPicPr preferRelativeResize="0"/>
          <p:nvPr/>
        </p:nvPicPr>
        <p:blipFill>
          <a:blip r:embed="rId3">
            <a:alphaModFix/>
          </a:blip>
          <a:stretch>
            <a:fillRect/>
          </a:stretch>
        </p:blipFill>
        <p:spPr>
          <a:xfrm>
            <a:off x="1277850" y="1427450"/>
            <a:ext cx="6588350" cy="3294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K in KNN?</a:t>
            </a:r>
            <a:endParaRPr/>
          </a:p>
        </p:txBody>
      </p:sp>
      <p:sp>
        <p:nvSpPr>
          <p:cNvPr id="95" name="Google Shape;95;p18"/>
          <p:cNvSpPr txBox="1"/>
          <p:nvPr/>
        </p:nvSpPr>
        <p:spPr>
          <a:xfrm>
            <a:off x="311725" y="1514325"/>
            <a:ext cx="8304300" cy="3576900"/>
          </a:xfrm>
          <a:prstGeom prst="rect">
            <a:avLst/>
          </a:prstGeom>
          <a:noFill/>
          <a:ln>
            <a:noFill/>
          </a:ln>
        </p:spPr>
        <p:txBody>
          <a:bodyPr anchorCtr="0" anchor="t" bIns="91425" lIns="91425" spcFirstLastPara="1" rIns="91425" wrap="square" tIns="91425">
            <a:noAutofit/>
          </a:bodyPr>
          <a:lstStyle/>
          <a:p>
            <a:pPr indent="-311150" lvl="0" marL="457200" rtl="0" algn="just">
              <a:lnSpc>
                <a:spcPct val="120000"/>
              </a:lnSpc>
              <a:spcBef>
                <a:spcPts val="0"/>
              </a:spcBef>
              <a:spcAft>
                <a:spcPts val="0"/>
              </a:spcAft>
              <a:buClr>
                <a:srgbClr val="0A0A0A"/>
              </a:buClr>
              <a:buSzPts val="1300"/>
              <a:buFont typeface="Times New Roman"/>
              <a:buChar char="●"/>
            </a:pPr>
            <a:r>
              <a:rPr lang="en" sz="1300">
                <a:solidFill>
                  <a:srgbClr val="0A0A0A"/>
                </a:solidFill>
                <a:highlight>
                  <a:srgbClr val="FFFFFF"/>
                </a:highlight>
                <a:latin typeface="Times New Roman"/>
                <a:ea typeface="Times New Roman"/>
                <a:cs typeface="Times New Roman"/>
                <a:sym typeface="Times New Roman"/>
              </a:rPr>
              <a:t>In the KNN algorithm k is just a number that tells the algorithm how many nearby points or neighbors to look at when it makes a decision.</a:t>
            </a:r>
            <a:endParaRPr sz="1300">
              <a:solidFill>
                <a:srgbClr val="0A0A0A"/>
              </a:solidFill>
              <a:highlight>
                <a:srgbClr val="FFFFFF"/>
              </a:highlight>
              <a:latin typeface="Times New Roman"/>
              <a:ea typeface="Times New Roman"/>
              <a:cs typeface="Times New Roman"/>
              <a:sym typeface="Times New Roman"/>
            </a:endParaRPr>
          </a:p>
          <a:p>
            <a:pPr indent="-311150" lvl="0" marL="457200" rtl="0" algn="just">
              <a:lnSpc>
                <a:spcPct val="120000"/>
              </a:lnSpc>
              <a:spcBef>
                <a:spcPts val="0"/>
              </a:spcBef>
              <a:spcAft>
                <a:spcPts val="0"/>
              </a:spcAft>
              <a:buClr>
                <a:srgbClr val="0A0A0A"/>
              </a:buClr>
              <a:buSzPts val="1300"/>
              <a:buFont typeface="Nunito"/>
              <a:buChar char="●"/>
            </a:pPr>
            <a:r>
              <a:rPr b="1" lang="en" sz="1300">
                <a:solidFill>
                  <a:srgbClr val="0A0A0A"/>
                </a:solidFill>
                <a:highlight>
                  <a:srgbClr val="FFFFFF"/>
                </a:highlight>
                <a:latin typeface="Times New Roman"/>
                <a:ea typeface="Times New Roman"/>
                <a:cs typeface="Times New Roman"/>
                <a:sym typeface="Times New Roman"/>
              </a:rPr>
              <a:t>Example:</a:t>
            </a:r>
            <a:r>
              <a:rPr lang="en" sz="1300">
                <a:solidFill>
                  <a:srgbClr val="0A0A0A"/>
                </a:solidFill>
                <a:highlight>
                  <a:srgbClr val="FFFFFF"/>
                </a:highlight>
                <a:latin typeface="Times New Roman"/>
                <a:ea typeface="Times New Roman"/>
                <a:cs typeface="Times New Roman"/>
                <a:sym typeface="Times New Roman"/>
              </a:rPr>
              <a:t> Imagine you're deciding which fruit it is based on its shape and size. You compare it to fruits you already know.</a:t>
            </a:r>
            <a:endParaRPr sz="1300">
              <a:solidFill>
                <a:srgbClr val="0A0A0A"/>
              </a:solidFill>
              <a:highlight>
                <a:srgbClr val="FFFFFF"/>
              </a:highlight>
              <a:latin typeface="Times New Roman"/>
              <a:ea typeface="Times New Roman"/>
              <a:cs typeface="Times New Roman"/>
              <a:sym typeface="Times New Roman"/>
            </a:endParaRPr>
          </a:p>
          <a:p>
            <a:pPr indent="-311150" lvl="1" marL="914400" rtl="0" algn="just">
              <a:lnSpc>
                <a:spcPct val="158000"/>
              </a:lnSpc>
              <a:spcBef>
                <a:spcPts val="0"/>
              </a:spcBef>
              <a:spcAft>
                <a:spcPts val="0"/>
              </a:spcAft>
              <a:buClr>
                <a:srgbClr val="0A0A0A"/>
              </a:buClr>
              <a:buSzPts val="1300"/>
              <a:buFont typeface="Times New Roman"/>
              <a:buChar char="○"/>
            </a:pPr>
            <a:r>
              <a:rPr lang="en" sz="1300">
                <a:solidFill>
                  <a:srgbClr val="0A0A0A"/>
                </a:solidFill>
                <a:highlight>
                  <a:srgbClr val="FFFFFF"/>
                </a:highlight>
                <a:latin typeface="Times New Roman"/>
                <a:ea typeface="Times New Roman"/>
                <a:cs typeface="Times New Roman"/>
                <a:sym typeface="Times New Roman"/>
              </a:rPr>
              <a:t>If k = 3, the algorithm looks at the 3 closest fruits to the new one.</a:t>
            </a:r>
            <a:endParaRPr sz="1300">
              <a:solidFill>
                <a:srgbClr val="0A0A0A"/>
              </a:solidFill>
              <a:highlight>
                <a:srgbClr val="FFFFFF"/>
              </a:highlight>
              <a:latin typeface="Times New Roman"/>
              <a:ea typeface="Times New Roman"/>
              <a:cs typeface="Times New Roman"/>
              <a:sym typeface="Times New Roman"/>
            </a:endParaRPr>
          </a:p>
          <a:p>
            <a:pPr indent="-311150" lvl="1" marL="914400" rtl="0" algn="just">
              <a:lnSpc>
                <a:spcPct val="158000"/>
              </a:lnSpc>
              <a:spcBef>
                <a:spcPts val="0"/>
              </a:spcBef>
              <a:spcAft>
                <a:spcPts val="0"/>
              </a:spcAft>
              <a:buClr>
                <a:srgbClr val="0A0A0A"/>
              </a:buClr>
              <a:buSzPts val="1300"/>
              <a:buFont typeface="Times New Roman"/>
              <a:buChar char="○"/>
            </a:pPr>
            <a:r>
              <a:rPr lang="en" sz="1300">
                <a:solidFill>
                  <a:srgbClr val="0A0A0A"/>
                </a:solidFill>
                <a:highlight>
                  <a:srgbClr val="FFFFFF"/>
                </a:highlight>
                <a:latin typeface="Times New Roman"/>
                <a:ea typeface="Times New Roman"/>
                <a:cs typeface="Times New Roman"/>
                <a:sym typeface="Times New Roman"/>
              </a:rPr>
              <a:t>If 2 of those 3 fruits are apples and 1 is a banana, the algorithm says the new fruit is an apple because most of its neighbors are apples.</a:t>
            </a:r>
            <a:endParaRPr sz="1300">
              <a:solidFill>
                <a:srgbClr val="0A0A0A"/>
              </a:solidFill>
              <a:highlight>
                <a:srgbClr val="FFFFFF"/>
              </a:highlight>
              <a:latin typeface="Times New Roman"/>
              <a:ea typeface="Times New Roman"/>
              <a:cs typeface="Times New Roman"/>
              <a:sym typeface="Times New Roman"/>
            </a:endParaRPr>
          </a:p>
          <a:p>
            <a:pPr indent="-311150" lvl="0" marL="457200" rtl="0" algn="just">
              <a:lnSpc>
                <a:spcPct val="158000"/>
              </a:lnSpc>
              <a:spcBef>
                <a:spcPts val="0"/>
              </a:spcBef>
              <a:spcAft>
                <a:spcPts val="0"/>
              </a:spcAft>
              <a:buSzPts val="1300"/>
              <a:buFont typeface="Times New Roman"/>
              <a:buChar char="●"/>
            </a:pPr>
            <a:r>
              <a:rPr lang="en" sz="1300">
                <a:highlight>
                  <a:srgbClr val="FFFFFF"/>
                </a:highlight>
                <a:latin typeface="Times New Roman"/>
                <a:ea typeface="Times New Roman"/>
                <a:cs typeface="Times New Roman"/>
                <a:sym typeface="Times New Roman"/>
              </a:rPr>
              <a:t>How to choose value of k in KNN?</a:t>
            </a:r>
            <a:endParaRPr sz="1300">
              <a:highlight>
                <a:srgbClr val="FFFFFF"/>
              </a:highlight>
              <a:latin typeface="Times New Roman"/>
              <a:ea typeface="Times New Roman"/>
              <a:cs typeface="Times New Roman"/>
              <a:sym typeface="Times New Roman"/>
            </a:endParaRPr>
          </a:p>
          <a:p>
            <a:pPr indent="-311150" lvl="1" marL="914400" rtl="0" algn="just">
              <a:lnSpc>
                <a:spcPct val="158000"/>
              </a:lnSpc>
              <a:spcBef>
                <a:spcPts val="0"/>
              </a:spcBef>
              <a:spcAft>
                <a:spcPts val="0"/>
              </a:spcAft>
              <a:buSzPts val="1300"/>
              <a:buFont typeface="Times New Roman"/>
              <a:buChar char="○"/>
            </a:pPr>
            <a:r>
              <a:rPr b="1" lang="en" sz="1300">
                <a:latin typeface="Times New Roman"/>
                <a:ea typeface="Times New Roman"/>
                <a:cs typeface="Times New Roman"/>
                <a:sym typeface="Times New Roman"/>
              </a:rPr>
              <a:t>K = number of nearest neighbors used for prediction </a:t>
            </a:r>
            <a:endParaRPr b="1" sz="1300">
              <a:latin typeface="Times New Roman"/>
              <a:ea typeface="Times New Roman"/>
              <a:cs typeface="Times New Roman"/>
              <a:sym typeface="Times New Roman"/>
            </a:endParaRPr>
          </a:p>
          <a:p>
            <a:pPr indent="-311150" lvl="1" marL="914400" rtl="0" algn="just">
              <a:lnSpc>
                <a:spcPct val="158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Small K → sensitive to noise (</a:t>
            </a:r>
            <a:r>
              <a:rPr b="1" lang="en" sz="1300">
                <a:latin typeface="Times New Roman"/>
                <a:ea typeface="Times New Roman"/>
                <a:cs typeface="Times New Roman"/>
                <a:sym typeface="Times New Roman"/>
              </a:rPr>
              <a:t>overfitting</a:t>
            </a:r>
            <a:r>
              <a:rPr lang="en" sz="1300">
                <a:latin typeface="Times New Roman"/>
                <a:ea typeface="Times New Roman"/>
                <a:cs typeface="Times New Roman"/>
                <a:sym typeface="Times New Roman"/>
              </a:rPr>
              <a:t>), Large K → too smooth (</a:t>
            </a:r>
            <a:r>
              <a:rPr b="1" lang="en" sz="1300">
                <a:latin typeface="Times New Roman"/>
                <a:ea typeface="Times New Roman"/>
                <a:cs typeface="Times New Roman"/>
                <a:sym typeface="Times New Roman"/>
              </a:rPr>
              <a:t>underfitting</a:t>
            </a:r>
            <a:r>
              <a:rPr lang="en" sz="1300">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a:p>
            <a:pPr indent="-311150" lvl="1" marL="914400" rtl="0" algn="just">
              <a:lnSpc>
                <a:spcPct val="158000"/>
              </a:lnSpc>
              <a:spcBef>
                <a:spcPts val="0"/>
              </a:spcBef>
              <a:spcAft>
                <a:spcPts val="0"/>
              </a:spcAft>
              <a:buSzPts val="1300"/>
              <a:buFont typeface="Nunito"/>
              <a:buChar char="○"/>
            </a:pPr>
            <a:r>
              <a:rPr b="1" lang="en" sz="1300">
                <a:highlight>
                  <a:srgbClr val="FFFFFF"/>
                </a:highlight>
                <a:latin typeface="Times New Roman"/>
                <a:ea typeface="Times New Roman"/>
                <a:cs typeface="Times New Roman"/>
                <a:sym typeface="Times New Roman"/>
              </a:rPr>
              <a:t>Odd Values for k</a:t>
            </a:r>
            <a:r>
              <a:rPr lang="en" sz="1300">
                <a:highlight>
                  <a:srgbClr val="FFFFFF"/>
                </a:highlight>
                <a:latin typeface="Times New Roman"/>
                <a:ea typeface="Times New Roman"/>
                <a:cs typeface="Times New Roman"/>
                <a:sym typeface="Times New Roman"/>
              </a:rPr>
              <a:t>: It’s a good idea to use an odd number for k especially in classification problems. This helps avoid ties when deciding which class is the most common among the neighbors.</a:t>
            </a:r>
            <a:endParaRPr sz="1300">
              <a:latin typeface="Times New Roman"/>
              <a:ea typeface="Times New Roman"/>
              <a:cs typeface="Times New Roman"/>
              <a:sym typeface="Times New Roman"/>
            </a:endParaRPr>
          </a:p>
          <a:p>
            <a:pPr indent="0" lvl="0" marL="0" rtl="0" algn="just">
              <a:lnSpc>
                <a:spcPct val="158000"/>
              </a:lnSpc>
              <a:spcBef>
                <a:spcPts val="1800"/>
              </a:spcBef>
              <a:spcAft>
                <a:spcPts val="0"/>
              </a:spcAft>
              <a:buNone/>
            </a:pPr>
            <a:r>
              <a:t/>
            </a:r>
            <a:endParaRPr sz="1550">
              <a:solidFill>
                <a:srgbClr val="0A0A0A"/>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Distance Metrics used in KNN?</a:t>
            </a:r>
            <a:endParaRPr/>
          </a:p>
        </p:txBody>
      </p:sp>
      <p:sp>
        <p:nvSpPr>
          <p:cNvPr id="101" name="Google Shape;101;p19"/>
          <p:cNvSpPr txBox="1"/>
          <p:nvPr/>
        </p:nvSpPr>
        <p:spPr>
          <a:xfrm>
            <a:off x="311725" y="1514325"/>
            <a:ext cx="8304300" cy="3576900"/>
          </a:xfrm>
          <a:prstGeom prst="rect">
            <a:avLst/>
          </a:prstGeom>
          <a:noFill/>
          <a:ln>
            <a:noFill/>
          </a:ln>
        </p:spPr>
        <p:txBody>
          <a:bodyPr anchorCtr="0" anchor="t" bIns="91425" lIns="91425" spcFirstLastPara="1" rIns="91425" wrap="square" tIns="91425">
            <a:noAutofit/>
          </a:bodyPr>
          <a:lstStyle/>
          <a:p>
            <a:pPr indent="0" lvl="0" marL="0" rtl="0" algn="just">
              <a:lnSpc>
                <a:spcPct val="140000"/>
              </a:lnSpc>
              <a:spcBef>
                <a:spcPts val="0"/>
              </a:spcBef>
              <a:spcAft>
                <a:spcPts val="0"/>
              </a:spcAft>
              <a:buNone/>
            </a:pPr>
            <a:r>
              <a:rPr b="1" lang="en">
                <a:solidFill>
                  <a:srgbClr val="0A0A0A"/>
                </a:solidFill>
                <a:highlight>
                  <a:srgbClr val="FFFFFF"/>
                </a:highlight>
                <a:latin typeface="Times New Roman"/>
                <a:ea typeface="Times New Roman"/>
                <a:cs typeface="Times New Roman"/>
                <a:sym typeface="Times New Roman"/>
              </a:rPr>
              <a:t>Euclidean Distance</a:t>
            </a:r>
            <a:endParaRPr b="1">
              <a:solidFill>
                <a:srgbClr val="0A0A0A"/>
              </a:solidFill>
              <a:highlight>
                <a:srgbClr val="FFFFFF"/>
              </a:highlight>
              <a:latin typeface="Times New Roman"/>
              <a:ea typeface="Times New Roman"/>
              <a:cs typeface="Times New Roman"/>
              <a:sym typeface="Times New Roman"/>
            </a:endParaRPr>
          </a:p>
          <a:p>
            <a:pPr indent="0" lvl="0" marL="0" rtl="0" algn="just">
              <a:lnSpc>
                <a:spcPct val="120000"/>
              </a:lnSpc>
              <a:spcBef>
                <a:spcPts val="0"/>
              </a:spcBef>
              <a:spcAft>
                <a:spcPts val="0"/>
              </a:spcAft>
              <a:buNone/>
            </a:pPr>
            <a:r>
              <a:rPr lang="en">
                <a:solidFill>
                  <a:srgbClr val="0A0A0A"/>
                </a:solidFill>
                <a:highlight>
                  <a:srgbClr val="FFFFFF"/>
                </a:highlight>
                <a:latin typeface="Times New Roman"/>
                <a:ea typeface="Times New Roman"/>
                <a:cs typeface="Times New Roman"/>
                <a:sym typeface="Times New Roman"/>
              </a:rPr>
              <a:t>Euclidean distance is defined as the straight-line distance between two points in a plane or space. You can think of it like the shortest path you would walk if you were to go directly from one point to another.</a:t>
            </a:r>
            <a:endParaRPr>
              <a:solidFill>
                <a:srgbClr val="0A0A0A"/>
              </a:solidFill>
              <a:highlight>
                <a:srgbClr val="FFFFFF"/>
              </a:highlight>
              <a:latin typeface="Times New Roman"/>
              <a:ea typeface="Times New Roman"/>
              <a:cs typeface="Times New Roman"/>
              <a:sym typeface="Times New Roman"/>
            </a:endParaRPr>
          </a:p>
          <a:p>
            <a:pPr indent="0" lvl="0" marL="0" rtl="0" algn="just">
              <a:lnSpc>
                <a:spcPct val="120000"/>
              </a:lnSpc>
              <a:spcBef>
                <a:spcPts val="0"/>
              </a:spcBef>
              <a:spcAft>
                <a:spcPts val="0"/>
              </a:spcAft>
              <a:buNone/>
            </a:pPr>
            <a:r>
              <a:t/>
            </a:r>
            <a:endParaRPr sz="1300">
              <a:solidFill>
                <a:srgbClr val="0A0A0A"/>
              </a:solidFill>
              <a:highlight>
                <a:srgbClr val="FFFFFF"/>
              </a:highlight>
              <a:latin typeface="Times New Roman"/>
              <a:ea typeface="Times New Roman"/>
              <a:cs typeface="Times New Roman"/>
              <a:sym typeface="Times New Roman"/>
            </a:endParaRPr>
          </a:p>
          <a:p>
            <a:pPr indent="0" lvl="0" marL="0" rtl="0" algn="just">
              <a:lnSpc>
                <a:spcPct val="158000"/>
              </a:lnSpc>
              <a:spcBef>
                <a:spcPts val="800"/>
              </a:spcBef>
              <a:spcAft>
                <a:spcPts val="0"/>
              </a:spcAft>
              <a:buNone/>
            </a:pPr>
            <a:r>
              <a:t/>
            </a:r>
            <a:endParaRPr sz="1550">
              <a:solidFill>
                <a:srgbClr val="0A0A0A"/>
              </a:solidFill>
              <a:highlight>
                <a:srgbClr val="FFFFFF"/>
              </a:highlight>
              <a:latin typeface="Times New Roman"/>
              <a:ea typeface="Times New Roman"/>
              <a:cs typeface="Times New Roman"/>
              <a:sym typeface="Times New Roman"/>
            </a:endParaRPr>
          </a:p>
        </p:txBody>
      </p:sp>
      <p:pic>
        <p:nvPicPr>
          <p:cNvPr id="102" name="Google Shape;102;p19"/>
          <p:cNvPicPr preferRelativeResize="0"/>
          <p:nvPr/>
        </p:nvPicPr>
        <p:blipFill rotWithShape="1">
          <a:blip r:embed="rId3">
            <a:alphaModFix/>
          </a:blip>
          <a:srcRect b="40163" l="0" r="51674" t="42670"/>
          <a:stretch/>
        </p:blipFill>
        <p:spPr>
          <a:xfrm>
            <a:off x="551575" y="2960050"/>
            <a:ext cx="3512051" cy="369550"/>
          </a:xfrm>
          <a:prstGeom prst="rect">
            <a:avLst/>
          </a:prstGeom>
          <a:noFill/>
          <a:ln>
            <a:noFill/>
          </a:ln>
        </p:spPr>
      </p:pic>
      <p:pic>
        <p:nvPicPr>
          <p:cNvPr id="103" name="Google Shape;103;p19"/>
          <p:cNvPicPr preferRelativeResize="0"/>
          <p:nvPr/>
        </p:nvPicPr>
        <p:blipFill rotWithShape="1">
          <a:blip r:embed="rId3">
            <a:alphaModFix/>
          </a:blip>
          <a:srcRect b="0" l="50490" r="0" t="0"/>
          <a:stretch/>
        </p:blipFill>
        <p:spPr>
          <a:xfrm>
            <a:off x="4678769" y="2514825"/>
            <a:ext cx="3598224" cy="2152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Working of KNN?</a:t>
            </a:r>
            <a:endParaRPr/>
          </a:p>
        </p:txBody>
      </p:sp>
      <p:pic>
        <p:nvPicPr>
          <p:cNvPr id="109" name="Google Shape;109;p20"/>
          <p:cNvPicPr preferRelativeResize="0"/>
          <p:nvPr/>
        </p:nvPicPr>
        <p:blipFill>
          <a:blip r:embed="rId3">
            <a:alphaModFix/>
          </a:blip>
          <a:stretch>
            <a:fillRect/>
          </a:stretch>
        </p:blipFill>
        <p:spPr>
          <a:xfrm>
            <a:off x="2410050" y="1433300"/>
            <a:ext cx="6635676" cy="2712350"/>
          </a:xfrm>
          <a:prstGeom prst="rect">
            <a:avLst/>
          </a:prstGeom>
          <a:noFill/>
          <a:ln>
            <a:noFill/>
          </a:ln>
        </p:spPr>
      </p:pic>
      <p:pic>
        <p:nvPicPr>
          <p:cNvPr id="110" name="Google Shape;110;p20"/>
          <p:cNvPicPr preferRelativeResize="0"/>
          <p:nvPr/>
        </p:nvPicPr>
        <p:blipFill>
          <a:blip r:embed="rId4">
            <a:alphaModFix/>
          </a:blip>
          <a:stretch>
            <a:fillRect/>
          </a:stretch>
        </p:blipFill>
        <p:spPr>
          <a:xfrm>
            <a:off x="35275" y="4001100"/>
            <a:ext cx="2473525" cy="988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Implementing KNN</a:t>
            </a:r>
            <a:endParaRPr>
              <a:latin typeface="Times New Roman"/>
              <a:ea typeface="Times New Roman"/>
              <a:cs typeface="Times New Roman"/>
              <a:sym typeface="Times New Roman"/>
            </a:endParaRPr>
          </a:p>
        </p:txBody>
      </p:sp>
      <p:sp>
        <p:nvSpPr>
          <p:cNvPr id="116" name="Google Shape;116;p21"/>
          <p:cNvSpPr txBox="1"/>
          <p:nvPr/>
        </p:nvSpPr>
        <p:spPr>
          <a:xfrm>
            <a:off x="311725" y="1514325"/>
            <a:ext cx="8304300" cy="3576900"/>
          </a:xfrm>
          <a:prstGeom prst="rect">
            <a:avLst/>
          </a:prstGeom>
          <a:noFill/>
          <a:ln>
            <a:noFill/>
          </a:ln>
        </p:spPr>
        <p:txBody>
          <a:bodyPr anchorCtr="0" anchor="t" bIns="91425" lIns="91425" spcFirstLastPara="1" rIns="91425" wrap="square" tIns="91425">
            <a:noAutofit/>
          </a:bodyPr>
          <a:lstStyle/>
          <a:p>
            <a:pPr indent="0" lvl="0" marL="0" rtl="0" algn="just">
              <a:lnSpc>
                <a:spcPct val="160000"/>
              </a:lnSpc>
              <a:spcBef>
                <a:spcPts val="0"/>
              </a:spcBef>
              <a:spcAft>
                <a:spcPts val="0"/>
              </a:spcAft>
              <a:buNone/>
            </a:pPr>
            <a:r>
              <a:rPr lang="en" sz="1800">
                <a:solidFill>
                  <a:srgbClr val="0A0A0A"/>
                </a:solidFill>
                <a:highlight>
                  <a:srgbClr val="FFFFFF"/>
                </a:highlight>
                <a:latin typeface="Times New Roman"/>
                <a:ea typeface="Times New Roman"/>
                <a:cs typeface="Times New Roman"/>
                <a:sym typeface="Times New Roman"/>
              </a:rPr>
              <a:t>Step 1 : Import the Required Library </a:t>
            </a:r>
            <a:endParaRPr sz="1800">
              <a:solidFill>
                <a:srgbClr val="0A0A0A"/>
              </a:solidFill>
              <a:highlight>
                <a:srgbClr val="FFFFFF"/>
              </a:highlight>
              <a:latin typeface="Times New Roman"/>
              <a:ea typeface="Times New Roman"/>
              <a:cs typeface="Times New Roman"/>
              <a:sym typeface="Times New Roman"/>
            </a:endParaRPr>
          </a:p>
          <a:p>
            <a:pPr indent="0" lvl="0" marL="0" rtl="0" algn="just">
              <a:lnSpc>
                <a:spcPct val="135714"/>
              </a:lnSpc>
              <a:spcBef>
                <a:spcPts val="0"/>
              </a:spcBef>
              <a:spcAft>
                <a:spcPts val="0"/>
              </a:spcAft>
              <a:buNone/>
            </a:pPr>
            <a:r>
              <a:rPr b="1" lang="en">
                <a:solidFill>
                  <a:srgbClr val="0A0A0A"/>
                </a:solidFill>
                <a:highlight>
                  <a:srgbClr val="FFFFFF"/>
                </a:highlight>
                <a:latin typeface="Times New Roman"/>
                <a:ea typeface="Times New Roman"/>
                <a:cs typeface="Times New Roman"/>
                <a:sym typeface="Times New Roman"/>
              </a:rPr>
              <a:t>from sklearn.neighbors import KNeighborsClassifier</a:t>
            </a:r>
            <a:endParaRPr b="1">
              <a:solidFill>
                <a:srgbClr val="0A0A0A"/>
              </a:solidFill>
              <a:highlight>
                <a:srgbClr val="FFFFFF"/>
              </a:highlight>
              <a:latin typeface="Times New Roman"/>
              <a:ea typeface="Times New Roman"/>
              <a:cs typeface="Times New Roman"/>
              <a:sym typeface="Times New Roman"/>
            </a:endParaRPr>
          </a:p>
          <a:p>
            <a:pPr indent="0" lvl="0" marL="0" rtl="0" algn="just">
              <a:lnSpc>
                <a:spcPct val="160000"/>
              </a:lnSpc>
              <a:spcBef>
                <a:spcPts val="0"/>
              </a:spcBef>
              <a:spcAft>
                <a:spcPts val="0"/>
              </a:spcAft>
              <a:buNone/>
            </a:pPr>
            <a:r>
              <a:rPr lang="en" sz="1800">
                <a:solidFill>
                  <a:srgbClr val="0A0A0A"/>
                </a:solidFill>
                <a:highlight>
                  <a:srgbClr val="FFFFFF"/>
                </a:highlight>
                <a:latin typeface="Times New Roman"/>
                <a:ea typeface="Times New Roman"/>
                <a:cs typeface="Times New Roman"/>
                <a:sym typeface="Times New Roman"/>
              </a:rPr>
              <a:t>Step	2: Load the Dataset (csv file)</a:t>
            </a:r>
            <a:endParaRPr sz="1800">
              <a:solidFill>
                <a:srgbClr val="0A0A0A"/>
              </a:solidFill>
              <a:highlight>
                <a:srgbClr val="FFFFFF"/>
              </a:highlight>
              <a:latin typeface="Times New Roman"/>
              <a:ea typeface="Times New Roman"/>
              <a:cs typeface="Times New Roman"/>
              <a:sym typeface="Times New Roman"/>
            </a:endParaRPr>
          </a:p>
          <a:p>
            <a:pPr indent="0" lvl="0" marL="0" rtl="0" algn="just">
              <a:lnSpc>
                <a:spcPct val="160000"/>
              </a:lnSpc>
              <a:spcBef>
                <a:spcPts val="0"/>
              </a:spcBef>
              <a:spcAft>
                <a:spcPts val="0"/>
              </a:spcAft>
              <a:buNone/>
            </a:pPr>
            <a:r>
              <a:rPr lang="en" sz="1800">
                <a:solidFill>
                  <a:srgbClr val="0A0A0A"/>
                </a:solidFill>
                <a:highlight>
                  <a:srgbClr val="FFFFFF"/>
                </a:highlight>
                <a:latin typeface="Times New Roman"/>
                <a:ea typeface="Times New Roman"/>
                <a:cs typeface="Times New Roman"/>
                <a:sym typeface="Times New Roman"/>
              </a:rPr>
              <a:t>Step 3: Data Cleaning &amp; EDA (if required)</a:t>
            </a:r>
            <a:endParaRPr sz="1800">
              <a:solidFill>
                <a:srgbClr val="0A0A0A"/>
              </a:solidFill>
              <a:highlight>
                <a:srgbClr val="FFFFFF"/>
              </a:highlight>
              <a:latin typeface="Times New Roman"/>
              <a:ea typeface="Times New Roman"/>
              <a:cs typeface="Times New Roman"/>
              <a:sym typeface="Times New Roman"/>
            </a:endParaRPr>
          </a:p>
          <a:p>
            <a:pPr indent="0" lvl="0" marL="0" rtl="0" algn="just">
              <a:lnSpc>
                <a:spcPct val="160000"/>
              </a:lnSpc>
              <a:spcBef>
                <a:spcPts val="0"/>
              </a:spcBef>
              <a:spcAft>
                <a:spcPts val="0"/>
              </a:spcAft>
              <a:buNone/>
            </a:pPr>
            <a:r>
              <a:rPr lang="en" sz="1800">
                <a:solidFill>
                  <a:srgbClr val="0A0A0A"/>
                </a:solidFill>
                <a:highlight>
                  <a:srgbClr val="FFFFFF"/>
                </a:highlight>
                <a:latin typeface="Times New Roman"/>
                <a:ea typeface="Times New Roman"/>
                <a:cs typeface="Times New Roman"/>
                <a:sym typeface="Times New Roman"/>
              </a:rPr>
              <a:t>Step 4: Feature Selection single x and y variable (for simple linear Regression) </a:t>
            </a:r>
            <a:endParaRPr sz="1800">
              <a:solidFill>
                <a:srgbClr val="0A0A0A"/>
              </a:solidFill>
              <a:highlight>
                <a:srgbClr val="FFFFFF"/>
              </a:highlight>
              <a:latin typeface="Times New Roman"/>
              <a:ea typeface="Times New Roman"/>
              <a:cs typeface="Times New Roman"/>
              <a:sym typeface="Times New Roman"/>
            </a:endParaRPr>
          </a:p>
          <a:p>
            <a:pPr indent="0" lvl="0" marL="0" rtl="0" algn="just">
              <a:lnSpc>
                <a:spcPct val="160000"/>
              </a:lnSpc>
              <a:spcBef>
                <a:spcPts val="0"/>
              </a:spcBef>
              <a:spcAft>
                <a:spcPts val="0"/>
              </a:spcAft>
              <a:buNone/>
            </a:pPr>
            <a:r>
              <a:rPr lang="en" sz="1800">
                <a:solidFill>
                  <a:srgbClr val="0A0A0A"/>
                </a:solidFill>
                <a:highlight>
                  <a:srgbClr val="FFFFFF"/>
                </a:highlight>
                <a:latin typeface="Times New Roman"/>
                <a:ea typeface="Times New Roman"/>
                <a:cs typeface="Times New Roman"/>
                <a:sym typeface="Times New Roman"/>
              </a:rPr>
              <a:t>            multiple features selection x and single y variable(for multilinear Regression)</a:t>
            </a:r>
            <a:endParaRPr sz="1800">
              <a:solidFill>
                <a:srgbClr val="0A0A0A"/>
              </a:solidFill>
              <a:highlight>
                <a:srgbClr val="FFFFFF"/>
              </a:highlight>
              <a:latin typeface="Times New Roman"/>
              <a:ea typeface="Times New Roman"/>
              <a:cs typeface="Times New Roman"/>
              <a:sym typeface="Times New Roman"/>
            </a:endParaRPr>
          </a:p>
          <a:p>
            <a:pPr indent="0" lvl="0" marL="0" rtl="0" algn="just">
              <a:lnSpc>
                <a:spcPct val="160000"/>
              </a:lnSpc>
              <a:spcBef>
                <a:spcPts val="0"/>
              </a:spcBef>
              <a:spcAft>
                <a:spcPts val="0"/>
              </a:spcAft>
              <a:buNone/>
            </a:pPr>
            <a:r>
              <a:rPr lang="en" sz="1800">
                <a:solidFill>
                  <a:srgbClr val="0A0A0A"/>
                </a:solidFill>
                <a:highlight>
                  <a:srgbClr val="FFFFFF"/>
                </a:highlight>
                <a:latin typeface="Times New Roman"/>
                <a:ea typeface="Times New Roman"/>
                <a:cs typeface="Times New Roman"/>
                <a:sym typeface="Times New Roman"/>
              </a:rPr>
              <a:t>Step 5: Model Selection (Data Split on train and test data)</a:t>
            </a:r>
            <a:endParaRPr sz="1800">
              <a:solidFill>
                <a:srgbClr val="0A0A0A"/>
              </a:solidFill>
              <a:highlight>
                <a:srgbClr val="FFFFFF"/>
              </a:highlight>
              <a:latin typeface="Times New Roman"/>
              <a:ea typeface="Times New Roman"/>
              <a:cs typeface="Times New Roman"/>
              <a:sym typeface="Times New Roman"/>
            </a:endParaRPr>
          </a:p>
          <a:p>
            <a:pPr indent="0" lvl="0" marL="0" rtl="0" algn="l">
              <a:lnSpc>
                <a:spcPct val="120000"/>
              </a:lnSpc>
              <a:spcBef>
                <a:spcPts val="0"/>
              </a:spcBef>
              <a:spcAft>
                <a:spcPts val="800"/>
              </a:spcAft>
              <a:buNone/>
            </a:pPr>
            <a:r>
              <a:rPr b="1" lang="en" sz="1800">
                <a:solidFill>
                  <a:srgbClr val="0A0A0A"/>
                </a:solidFill>
                <a:highlight>
                  <a:srgbClr val="FFFFFF"/>
                </a:highlight>
                <a:latin typeface="Times New Roman"/>
                <a:ea typeface="Times New Roman"/>
                <a:cs typeface="Times New Roman"/>
                <a:sym typeface="Times New Roman"/>
              </a:rPr>
              <a:t>x_train,x_test,y_train,y_test = </a:t>
            </a:r>
            <a:r>
              <a:rPr b="1" lang="en" sz="1800">
                <a:solidFill>
                  <a:srgbClr val="0A0A0A"/>
                </a:solidFill>
                <a:highlight>
                  <a:schemeClr val="lt1"/>
                </a:highlight>
                <a:latin typeface="Times New Roman"/>
                <a:ea typeface="Times New Roman"/>
                <a:cs typeface="Times New Roman"/>
                <a:sym typeface="Times New Roman"/>
              </a:rPr>
              <a:t>train_test_split(x,y,test_size=0.2,random_state = 10)</a:t>
            </a:r>
            <a:endParaRPr b="1" sz="1800">
              <a:solidFill>
                <a:srgbClr val="0A0A0A"/>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Implementing KNN</a:t>
            </a:r>
            <a:endParaRPr>
              <a:latin typeface="Times New Roman"/>
              <a:ea typeface="Times New Roman"/>
              <a:cs typeface="Times New Roman"/>
              <a:sym typeface="Times New Roman"/>
            </a:endParaRPr>
          </a:p>
        </p:txBody>
      </p:sp>
      <p:sp>
        <p:nvSpPr>
          <p:cNvPr id="122" name="Google Shape;122;p22"/>
          <p:cNvSpPr txBox="1"/>
          <p:nvPr/>
        </p:nvSpPr>
        <p:spPr>
          <a:xfrm>
            <a:off x="311725" y="1514325"/>
            <a:ext cx="8304300" cy="3576900"/>
          </a:xfrm>
          <a:prstGeom prst="rect">
            <a:avLst/>
          </a:prstGeom>
          <a:noFill/>
          <a:ln>
            <a:noFill/>
          </a:ln>
        </p:spPr>
        <p:txBody>
          <a:bodyPr anchorCtr="0" anchor="t" bIns="91425" lIns="91425" spcFirstLastPara="1" rIns="91425" wrap="square" tIns="91425">
            <a:noAutofit/>
          </a:bodyPr>
          <a:lstStyle/>
          <a:p>
            <a:pPr indent="0" lvl="0" marL="0" rtl="0" algn="just">
              <a:lnSpc>
                <a:spcPct val="160000"/>
              </a:lnSpc>
              <a:spcBef>
                <a:spcPts val="0"/>
              </a:spcBef>
              <a:spcAft>
                <a:spcPts val="0"/>
              </a:spcAft>
              <a:buNone/>
            </a:pPr>
            <a:r>
              <a:rPr b="1" lang="en" sz="1800">
                <a:solidFill>
                  <a:srgbClr val="0A0A0A"/>
                </a:solidFill>
                <a:highlight>
                  <a:schemeClr val="lt1"/>
                </a:highlight>
                <a:latin typeface="Times New Roman"/>
                <a:ea typeface="Times New Roman"/>
                <a:cs typeface="Times New Roman"/>
                <a:sym typeface="Times New Roman"/>
              </a:rPr>
              <a:t>Step 6 : Train the knn Model with assigning n_neighbors</a:t>
            </a:r>
            <a:endParaRPr b="1" sz="1800">
              <a:solidFill>
                <a:srgbClr val="0A0A0A"/>
              </a:solidFill>
              <a:highlight>
                <a:schemeClr val="lt1"/>
              </a:highlight>
              <a:latin typeface="Times New Roman"/>
              <a:ea typeface="Times New Roman"/>
              <a:cs typeface="Times New Roman"/>
              <a:sym typeface="Times New Roman"/>
            </a:endParaRPr>
          </a:p>
          <a:p>
            <a:pPr indent="0" lvl="0" marL="0" rtl="0" algn="just">
              <a:lnSpc>
                <a:spcPct val="160000"/>
              </a:lnSpc>
              <a:spcBef>
                <a:spcPts val="0"/>
              </a:spcBef>
              <a:spcAft>
                <a:spcPts val="0"/>
              </a:spcAft>
              <a:buNone/>
            </a:pPr>
            <a:r>
              <a:rPr lang="en" sz="1800">
                <a:solidFill>
                  <a:srgbClr val="0A0A0A"/>
                </a:solidFill>
                <a:highlight>
                  <a:schemeClr val="lt1"/>
                </a:highlight>
                <a:latin typeface="Times New Roman"/>
                <a:ea typeface="Times New Roman"/>
                <a:cs typeface="Times New Roman"/>
                <a:sym typeface="Times New Roman"/>
              </a:rPr>
              <a:t>	</a:t>
            </a:r>
            <a:r>
              <a:rPr lang="en">
                <a:highlight>
                  <a:srgbClr val="FFFFFF"/>
                </a:highlight>
                <a:latin typeface="Times New Roman"/>
                <a:ea typeface="Times New Roman"/>
                <a:cs typeface="Times New Roman"/>
                <a:sym typeface="Times New Roman"/>
              </a:rPr>
              <a:t>KNN = KNeighborsClassifier(n_neighbors=</a:t>
            </a:r>
            <a:r>
              <a:rPr lang="en">
                <a:solidFill>
                  <a:srgbClr val="116644"/>
                </a:solidFill>
                <a:highlight>
                  <a:srgbClr val="FFFFFF"/>
                </a:highlight>
                <a:latin typeface="Times New Roman"/>
                <a:ea typeface="Times New Roman"/>
                <a:cs typeface="Times New Roman"/>
                <a:sym typeface="Times New Roman"/>
              </a:rPr>
              <a:t>5</a:t>
            </a:r>
            <a:r>
              <a:rPr lang="en">
                <a:highlight>
                  <a:srgbClr val="FFFFFF"/>
                </a:highlight>
                <a:latin typeface="Times New Roman"/>
                <a:ea typeface="Times New Roman"/>
                <a:cs typeface="Times New Roman"/>
                <a:sym typeface="Times New Roman"/>
              </a:rPr>
              <a:t>)</a:t>
            </a:r>
            <a:endParaRPr>
              <a:highlight>
                <a:srgbClr val="FFFFFF"/>
              </a:highlight>
              <a:latin typeface="Times New Roman"/>
              <a:ea typeface="Times New Roman"/>
              <a:cs typeface="Times New Roman"/>
              <a:sym typeface="Times New Roman"/>
            </a:endParaRPr>
          </a:p>
          <a:p>
            <a:pPr indent="457200" lvl="0" marL="0" rtl="0" algn="just">
              <a:lnSpc>
                <a:spcPct val="135714"/>
              </a:lnSpc>
              <a:spcBef>
                <a:spcPts val="0"/>
              </a:spcBef>
              <a:spcAft>
                <a:spcPts val="0"/>
              </a:spcAft>
              <a:buNone/>
            </a:pPr>
            <a:r>
              <a:rPr lang="en">
                <a:highlight>
                  <a:srgbClr val="FFFFFF"/>
                </a:highlight>
                <a:latin typeface="Times New Roman"/>
                <a:ea typeface="Times New Roman"/>
                <a:cs typeface="Times New Roman"/>
                <a:sym typeface="Times New Roman"/>
              </a:rPr>
              <a:t>KNN.fit(x_train,y_train)</a:t>
            </a:r>
            <a:endParaRPr>
              <a:highlight>
                <a:srgbClr val="FFFFFF"/>
              </a:highlight>
              <a:latin typeface="Times New Roman"/>
              <a:ea typeface="Times New Roman"/>
              <a:cs typeface="Times New Roman"/>
              <a:sym typeface="Times New Roman"/>
            </a:endParaRPr>
          </a:p>
          <a:p>
            <a:pPr indent="0" lvl="0" marL="0" rtl="0" algn="just">
              <a:lnSpc>
                <a:spcPct val="160000"/>
              </a:lnSpc>
              <a:spcBef>
                <a:spcPts val="0"/>
              </a:spcBef>
              <a:spcAft>
                <a:spcPts val="0"/>
              </a:spcAft>
              <a:buNone/>
            </a:pPr>
            <a:r>
              <a:rPr b="1" lang="en" sz="1800">
                <a:solidFill>
                  <a:srgbClr val="0A0A0A"/>
                </a:solidFill>
                <a:highlight>
                  <a:schemeClr val="lt1"/>
                </a:highlight>
                <a:latin typeface="Times New Roman"/>
                <a:ea typeface="Times New Roman"/>
                <a:cs typeface="Times New Roman"/>
                <a:sym typeface="Times New Roman"/>
              </a:rPr>
              <a:t>Step 7: Make Prediction</a:t>
            </a:r>
            <a:endParaRPr b="1" sz="1800">
              <a:solidFill>
                <a:srgbClr val="0A0A0A"/>
              </a:solidFill>
              <a:highlight>
                <a:schemeClr val="lt1"/>
              </a:highlight>
              <a:latin typeface="Times New Roman"/>
              <a:ea typeface="Times New Roman"/>
              <a:cs typeface="Times New Roman"/>
              <a:sym typeface="Times New Roman"/>
            </a:endParaRPr>
          </a:p>
          <a:p>
            <a:pPr indent="457200" lvl="0" marL="0" rtl="0" algn="just">
              <a:lnSpc>
                <a:spcPct val="160000"/>
              </a:lnSpc>
              <a:spcBef>
                <a:spcPts val="0"/>
              </a:spcBef>
              <a:spcAft>
                <a:spcPts val="0"/>
              </a:spcAft>
              <a:buNone/>
            </a:pPr>
            <a:r>
              <a:rPr lang="en" sz="1800">
                <a:solidFill>
                  <a:srgbClr val="0A0A0A"/>
                </a:solidFill>
                <a:highlight>
                  <a:schemeClr val="lt1"/>
                </a:highlight>
                <a:latin typeface="Times New Roman"/>
                <a:ea typeface="Times New Roman"/>
                <a:cs typeface="Times New Roman"/>
                <a:sym typeface="Times New Roman"/>
              </a:rPr>
              <a:t>y_pred = </a:t>
            </a:r>
            <a:r>
              <a:rPr lang="en">
                <a:highlight>
                  <a:srgbClr val="FFFFFF"/>
                </a:highlight>
                <a:latin typeface="Times New Roman"/>
                <a:ea typeface="Times New Roman"/>
                <a:cs typeface="Times New Roman"/>
                <a:sym typeface="Times New Roman"/>
              </a:rPr>
              <a:t>KNN </a:t>
            </a:r>
            <a:r>
              <a:rPr lang="en" sz="1800">
                <a:solidFill>
                  <a:srgbClr val="0A0A0A"/>
                </a:solidFill>
                <a:highlight>
                  <a:schemeClr val="lt1"/>
                </a:highlight>
                <a:latin typeface="Times New Roman"/>
                <a:ea typeface="Times New Roman"/>
                <a:cs typeface="Times New Roman"/>
                <a:sym typeface="Times New Roman"/>
              </a:rPr>
              <a:t>.predict(x_test)</a:t>
            </a:r>
            <a:endParaRPr sz="1800">
              <a:solidFill>
                <a:srgbClr val="0A0A0A"/>
              </a:solidFill>
              <a:highlight>
                <a:schemeClr val="lt1"/>
              </a:highlight>
              <a:latin typeface="Times New Roman"/>
              <a:ea typeface="Times New Roman"/>
              <a:cs typeface="Times New Roman"/>
              <a:sym typeface="Times New Roman"/>
            </a:endParaRPr>
          </a:p>
          <a:p>
            <a:pPr indent="0" lvl="0" marL="0" rtl="0" algn="just">
              <a:lnSpc>
                <a:spcPct val="160000"/>
              </a:lnSpc>
              <a:spcBef>
                <a:spcPts val="0"/>
              </a:spcBef>
              <a:spcAft>
                <a:spcPts val="0"/>
              </a:spcAft>
              <a:buNone/>
            </a:pPr>
            <a:r>
              <a:t/>
            </a:r>
            <a:endParaRPr sz="1800">
              <a:solidFill>
                <a:srgbClr val="0A0A0A"/>
              </a:solidFill>
              <a:highlight>
                <a:srgbClr val="FFFFFF"/>
              </a:highlight>
              <a:latin typeface="Times New Roman"/>
              <a:ea typeface="Times New Roman"/>
              <a:cs typeface="Times New Roman"/>
              <a:sym typeface="Times New Roman"/>
            </a:endParaRPr>
          </a:p>
          <a:p>
            <a:pPr indent="0" lvl="0" marL="0" rtl="0" algn="l">
              <a:lnSpc>
                <a:spcPct val="120000"/>
              </a:lnSpc>
              <a:spcBef>
                <a:spcPts val="0"/>
              </a:spcBef>
              <a:spcAft>
                <a:spcPts val="800"/>
              </a:spcAft>
              <a:buNone/>
            </a:pPr>
            <a:r>
              <a:t/>
            </a:r>
            <a:endParaRPr sz="2000">
              <a:solidFill>
                <a:srgbClr val="0A0A0A"/>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Model Evaluation for classification: </a:t>
            </a:r>
            <a:endParaRPr>
              <a:latin typeface="Times New Roman"/>
              <a:ea typeface="Times New Roman"/>
              <a:cs typeface="Times New Roman"/>
              <a:sym typeface="Times New Roman"/>
            </a:endParaRPr>
          </a:p>
        </p:txBody>
      </p:sp>
      <p:sp>
        <p:nvSpPr>
          <p:cNvPr id="128" name="Google Shape;128;p23"/>
          <p:cNvSpPr txBox="1"/>
          <p:nvPr/>
        </p:nvSpPr>
        <p:spPr>
          <a:xfrm>
            <a:off x="276575" y="1326850"/>
            <a:ext cx="8304300" cy="3762000"/>
          </a:xfrm>
          <a:prstGeom prst="rect">
            <a:avLst/>
          </a:prstGeom>
          <a:noFill/>
          <a:ln>
            <a:noFill/>
          </a:ln>
        </p:spPr>
        <p:txBody>
          <a:bodyPr anchorCtr="0" anchor="t" bIns="91425" lIns="91425" spcFirstLastPara="1" rIns="91425" wrap="square" tIns="91425">
            <a:noAutofit/>
          </a:bodyPr>
          <a:lstStyle/>
          <a:p>
            <a:pPr indent="-317500" lvl="0" marL="457200" rtl="0" algn="just">
              <a:lnSpc>
                <a:spcPct val="160000"/>
              </a:lnSpc>
              <a:spcBef>
                <a:spcPts val="0"/>
              </a:spcBef>
              <a:spcAft>
                <a:spcPts val="0"/>
              </a:spcAft>
              <a:buClr>
                <a:srgbClr val="0A0A0A"/>
              </a:buClr>
              <a:buSzPts val="1400"/>
              <a:buFont typeface="Times New Roman"/>
              <a:buAutoNum type="arabicPeriod"/>
            </a:pPr>
            <a:r>
              <a:rPr b="1" lang="en">
                <a:solidFill>
                  <a:srgbClr val="0A0A0A"/>
                </a:solidFill>
                <a:highlight>
                  <a:schemeClr val="lt1"/>
                </a:highlight>
                <a:latin typeface="Times New Roman"/>
                <a:ea typeface="Times New Roman"/>
                <a:cs typeface="Times New Roman"/>
                <a:sym typeface="Times New Roman"/>
              </a:rPr>
              <a:t>Confusion matrix : </a:t>
            </a:r>
            <a:endParaRPr b="1">
              <a:solidFill>
                <a:srgbClr val="0A0A0A"/>
              </a:solidFill>
              <a:highlight>
                <a:schemeClr val="lt1"/>
              </a:highlight>
              <a:latin typeface="Times New Roman"/>
              <a:ea typeface="Times New Roman"/>
              <a:cs typeface="Times New Roman"/>
              <a:sym typeface="Times New Roman"/>
            </a:endParaRPr>
          </a:p>
          <a:p>
            <a:pPr indent="0" lvl="0" marL="0" marR="1384300" rtl="0" algn="just">
              <a:lnSpc>
                <a:spcPct val="171818"/>
              </a:lnSpc>
              <a:spcBef>
                <a:spcPts val="0"/>
              </a:spcBef>
              <a:spcAft>
                <a:spcPts val="0"/>
              </a:spcAft>
              <a:buNone/>
            </a:pPr>
            <a:r>
              <a:rPr lang="en">
                <a:solidFill>
                  <a:srgbClr val="0A0A0A"/>
                </a:solidFill>
                <a:highlight>
                  <a:srgbClr val="FFFFFF"/>
                </a:highlight>
                <a:latin typeface="Times New Roman"/>
                <a:ea typeface="Times New Roman"/>
                <a:cs typeface="Times New Roman"/>
                <a:sym typeface="Times New Roman"/>
              </a:rPr>
              <a:t>T</a:t>
            </a:r>
            <a:r>
              <a:rPr lang="en" sz="1200">
                <a:solidFill>
                  <a:srgbClr val="0A0A0A"/>
                </a:solidFill>
                <a:highlight>
                  <a:srgbClr val="FFFFFF"/>
                </a:highlight>
                <a:latin typeface="Times New Roman"/>
                <a:ea typeface="Times New Roman"/>
                <a:cs typeface="Times New Roman"/>
                <a:sym typeface="Times New Roman"/>
              </a:rPr>
              <a:t>he Confusion Matrix takes the classification results and groups them into four categories:</a:t>
            </a:r>
            <a:endParaRPr sz="1200">
              <a:solidFill>
                <a:srgbClr val="0A0A0A"/>
              </a:solidFill>
              <a:highlight>
                <a:srgbClr val="FFFFFF"/>
              </a:highlight>
              <a:latin typeface="Times New Roman"/>
              <a:ea typeface="Times New Roman"/>
              <a:cs typeface="Times New Roman"/>
              <a:sym typeface="Times New Roman"/>
            </a:endParaRPr>
          </a:p>
          <a:p>
            <a:pPr indent="-304800" lvl="0" marL="457200" rtl="0" algn="just">
              <a:lnSpc>
                <a:spcPct val="150000"/>
              </a:lnSpc>
              <a:spcBef>
                <a:spcPts val="1200"/>
              </a:spcBef>
              <a:spcAft>
                <a:spcPts val="0"/>
              </a:spcAft>
              <a:buClr>
                <a:srgbClr val="0A0A0A"/>
              </a:buClr>
              <a:buSzPts val="1200"/>
              <a:buFont typeface="Times New Roman"/>
              <a:buChar char="●"/>
            </a:pPr>
            <a:r>
              <a:rPr lang="en" sz="1200">
                <a:solidFill>
                  <a:srgbClr val="0A0A0A"/>
                </a:solidFill>
                <a:highlight>
                  <a:srgbClr val="FFFFFF"/>
                </a:highlight>
                <a:latin typeface="Times New Roman"/>
                <a:ea typeface="Times New Roman"/>
                <a:cs typeface="Times New Roman"/>
                <a:sym typeface="Times New Roman"/>
              </a:rPr>
              <a:t>True Positive (TP): when both the actual and predicted values are 1.</a:t>
            </a:r>
            <a:endParaRPr sz="1200">
              <a:solidFill>
                <a:srgbClr val="0A0A0A"/>
              </a:solidFill>
              <a:highlight>
                <a:srgbClr val="FFFFFF"/>
              </a:highlight>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rgbClr val="0A0A0A"/>
              </a:buClr>
              <a:buSzPts val="1200"/>
              <a:buFont typeface="Times New Roman"/>
              <a:buChar char="●"/>
            </a:pPr>
            <a:r>
              <a:rPr lang="en" sz="1200">
                <a:solidFill>
                  <a:srgbClr val="0A0A0A"/>
                </a:solidFill>
                <a:highlight>
                  <a:srgbClr val="FFFFFF"/>
                </a:highlight>
                <a:latin typeface="Times New Roman"/>
                <a:ea typeface="Times New Roman"/>
                <a:cs typeface="Times New Roman"/>
                <a:sym typeface="Times New Roman"/>
              </a:rPr>
              <a:t>True Negative (TN): when both the actual and predicted values are 0.</a:t>
            </a:r>
            <a:endParaRPr sz="1200">
              <a:solidFill>
                <a:srgbClr val="0A0A0A"/>
              </a:solidFill>
              <a:highlight>
                <a:srgbClr val="FFFFFF"/>
              </a:highlight>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rgbClr val="0A0A0A"/>
              </a:buClr>
              <a:buSzPts val="1200"/>
              <a:buFont typeface="Times New Roman"/>
              <a:buChar char="●"/>
            </a:pPr>
            <a:r>
              <a:rPr lang="en" sz="1200">
                <a:solidFill>
                  <a:srgbClr val="0A0A0A"/>
                </a:solidFill>
                <a:highlight>
                  <a:srgbClr val="FFFFFF"/>
                </a:highlight>
                <a:latin typeface="Times New Roman"/>
                <a:ea typeface="Times New Roman"/>
                <a:cs typeface="Times New Roman"/>
                <a:sym typeface="Times New Roman"/>
              </a:rPr>
              <a:t>False Positive (FP): when the actual value is 0 but the predicted value is 1.</a:t>
            </a:r>
            <a:endParaRPr sz="1200">
              <a:solidFill>
                <a:srgbClr val="0A0A0A"/>
              </a:solidFill>
              <a:highlight>
                <a:srgbClr val="FFFFFF"/>
              </a:highlight>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rgbClr val="0A0A0A"/>
              </a:buClr>
              <a:buSzPts val="1200"/>
              <a:buFont typeface="Times New Roman"/>
              <a:buChar char="●"/>
            </a:pPr>
            <a:r>
              <a:rPr lang="en" sz="1200">
                <a:solidFill>
                  <a:srgbClr val="0A0A0A"/>
                </a:solidFill>
                <a:highlight>
                  <a:srgbClr val="FFFFFF"/>
                </a:highlight>
                <a:latin typeface="Times New Roman"/>
                <a:ea typeface="Times New Roman"/>
                <a:cs typeface="Times New Roman"/>
                <a:sym typeface="Times New Roman"/>
              </a:rPr>
              <a:t>False Negative (FN): when the actual value is 1 but the predicted value is 0.</a:t>
            </a:r>
            <a:endParaRPr sz="1200">
              <a:solidFill>
                <a:srgbClr val="0A0A0A"/>
              </a:solidFill>
              <a:highlight>
                <a:srgbClr val="FFFFFF"/>
              </a:highlight>
              <a:latin typeface="Times New Roman"/>
              <a:ea typeface="Times New Roman"/>
              <a:cs typeface="Times New Roman"/>
              <a:sym typeface="Times New Roman"/>
            </a:endParaRPr>
          </a:p>
          <a:p>
            <a:pPr indent="0" lvl="0" marL="0" marR="1384300" rtl="0" algn="just">
              <a:lnSpc>
                <a:spcPct val="171818"/>
              </a:lnSpc>
              <a:spcBef>
                <a:spcPts val="1200"/>
              </a:spcBef>
              <a:spcAft>
                <a:spcPts val="0"/>
              </a:spcAft>
              <a:buNone/>
            </a:pPr>
            <a:r>
              <a:rPr lang="en">
                <a:solidFill>
                  <a:srgbClr val="0A0A0A"/>
                </a:solidFill>
                <a:highlight>
                  <a:srgbClr val="FFFFFF"/>
                </a:highlight>
                <a:latin typeface="Times New Roman"/>
                <a:ea typeface="Times New Roman"/>
                <a:cs typeface="Times New Roman"/>
                <a:sym typeface="Times New Roman"/>
              </a:rPr>
              <a:t>Ex</a:t>
            </a:r>
            <a:r>
              <a:rPr lang="en" sz="1300">
                <a:solidFill>
                  <a:srgbClr val="0A0A0A"/>
                </a:solidFill>
                <a:highlight>
                  <a:srgbClr val="FFFFFF"/>
                </a:highlight>
                <a:latin typeface="Times New Roman"/>
                <a:ea typeface="Times New Roman"/>
                <a:cs typeface="Times New Roman"/>
                <a:sym typeface="Times New Roman"/>
              </a:rPr>
              <a:t>ample : Applied to our dataset, we get the following values:</a:t>
            </a:r>
            <a:endParaRPr sz="1300">
              <a:solidFill>
                <a:srgbClr val="0A0A0A"/>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rgbClr val="0A0A0A"/>
              </a:buClr>
              <a:buSzPts val="1300"/>
              <a:buFont typeface="Times New Roman"/>
              <a:buChar char="●"/>
            </a:pPr>
            <a:r>
              <a:rPr lang="en" sz="1300">
                <a:solidFill>
                  <a:srgbClr val="0A0A0A"/>
                </a:solidFill>
                <a:highlight>
                  <a:srgbClr val="FFFFFF"/>
                </a:highlight>
                <a:latin typeface="Times New Roman"/>
                <a:ea typeface="Times New Roman"/>
                <a:cs typeface="Times New Roman"/>
                <a:sym typeface="Times New Roman"/>
              </a:rPr>
              <a:t>True Positive (TP): 1</a:t>
            </a:r>
            <a:endParaRPr sz="1300">
              <a:solidFill>
                <a:srgbClr val="0A0A0A"/>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rgbClr val="0A0A0A"/>
              </a:buClr>
              <a:buSzPts val="1300"/>
              <a:buFont typeface="Times New Roman"/>
              <a:buChar char="●"/>
            </a:pPr>
            <a:r>
              <a:rPr lang="en" sz="1300">
                <a:solidFill>
                  <a:srgbClr val="0A0A0A"/>
                </a:solidFill>
                <a:highlight>
                  <a:srgbClr val="FFFFFF"/>
                </a:highlight>
                <a:latin typeface="Times New Roman"/>
                <a:ea typeface="Times New Roman"/>
                <a:cs typeface="Times New Roman"/>
                <a:sym typeface="Times New Roman"/>
              </a:rPr>
              <a:t>True Negative (TN): 14</a:t>
            </a:r>
            <a:endParaRPr sz="1300">
              <a:solidFill>
                <a:srgbClr val="0A0A0A"/>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rgbClr val="0A0A0A"/>
              </a:buClr>
              <a:buSzPts val="1300"/>
              <a:buFont typeface="Times New Roman"/>
              <a:buChar char="●"/>
            </a:pPr>
            <a:r>
              <a:rPr lang="en" sz="1300">
                <a:solidFill>
                  <a:srgbClr val="0A0A0A"/>
                </a:solidFill>
                <a:highlight>
                  <a:srgbClr val="FFFFFF"/>
                </a:highlight>
                <a:latin typeface="Times New Roman"/>
                <a:ea typeface="Times New Roman"/>
                <a:cs typeface="Times New Roman"/>
                <a:sym typeface="Times New Roman"/>
              </a:rPr>
              <a:t>False Positive (FP): 3</a:t>
            </a:r>
            <a:endParaRPr sz="1300">
              <a:solidFill>
                <a:srgbClr val="0A0A0A"/>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rgbClr val="0A0A0A"/>
              </a:buClr>
              <a:buSzPts val="1300"/>
              <a:buFont typeface="Times New Roman"/>
              <a:buChar char="●"/>
            </a:pPr>
            <a:r>
              <a:rPr lang="en" sz="1300">
                <a:solidFill>
                  <a:srgbClr val="0A0A0A"/>
                </a:solidFill>
                <a:highlight>
                  <a:srgbClr val="FFFFFF"/>
                </a:highlight>
                <a:latin typeface="Times New Roman"/>
                <a:ea typeface="Times New Roman"/>
                <a:cs typeface="Times New Roman"/>
                <a:sym typeface="Times New Roman"/>
              </a:rPr>
              <a:t>False Negative (FN): 2</a:t>
            </a:r>
            <a:endParaRPr sz="1300">
              <a:solidFill>
                <a:srgbClr val="0A0A0A"/>
              </a:solidFill>
              <a:highlight>
                <a:srgbClr val="FFFFFF"/>
              </a:highlight>
              <a:latin typeface="Times New Roman"/>
              <a:ea typeface="Times New Roman"/>
              <a:cs typeface="Times New Roman"/>
              <a:sym typeface="Times New Roman"/>
            </a:endParaRPr>
          </a:p>
          <a:p>
            <a:pPr indent="0" lvl="0" marL="0" rtl="0" algn="just">
              <a:lnSpc>
                <a:spcPct val="160000"/>
              </a:lnSpc>
              <a:spcBef>
                <a:spcPts val="1200"/>
              </a:spcBef>
              <a:spcAft>
                <a:spcPts val="0"/>
              </a:spcAft>
              <a:buNone/>
            </a:pPr>
            <a:r>
              <a:t/>
            </a:r>
            <a:endParaRPr b="1">
              <a:solidFill>
                <a:srgbClr val="0A0A0A"/>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l Confusion Matrix: </a:t>
            </a:r>
            <a:endParaRPr>
              <a:latin typeface="Times New Roman"/>
              <a:ea typeface="Times New Roman"/>
              <a:cs typeface="Times New Roman"/>
              <a:sym typeface="Times New Roman"/>
            </a:endParaRPr>
          </a:p>
        </p:txBody>
      </p:sp>
      <p:pic>
        <p:nvPicPr>
          <p:cNvPr id="134" name="Google Shape;134;p24"/>
          <p:cNvPicPr preferRelativeResize="0"/>
          <p:nvPr/>
        </p:nvPicPr>
        <p:blipFill rotWithShape="1">
          <a:blip r:embed="rId3">
            <a:alphaModFix/>
          </a:blip>
          <a:srcRect b="9703" l="24833" r="28462" t="16681"/>
          <a:stretch/>
        </p:blipFill>
        <p:spPr>
          <a:xfrm>
            <a:off x="2821725" y="1369150"/>
            <a:ext cx="3893477" cy="3452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l. Confusion Matrix: </a:t>
            </a:r>
            <a:endParaRPr>
              <a:latin typeface="Times New Roman"/>
              <a:ea typeface="Times New Roman"/>
              <a:cs typeface="Times New Roman"/>
              <a:sym typeface="Times New Roman"/>
            </a:endParaRPr>
          </a:p>
        </p:txBody>
      </p:sp>
      <p:pic>
        <p:nvPicPr>
          <p:cNvPr id="140" name="Google Shape;140;p25"/>
          <p:cNvPicPr preferRelativeResize="0"/>
          <p:nvPr/>
        </p:nvPicPr>
        <p:blipFill>
          <a:blip r:embed="rId3">
            <a:alphaModFix/>
          </a:blip>
          <a:stretch>
            <a:fillRect/>
          </a:stretch>
        </p:blipFill>
        <p:spPr>
          <a:xfrm>
            <a:off x="1632475" y="1433325"/>
            <a:ext cx="6147902" cy="34582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2. Accuracy Score: </a:t>
            </a:r>
            <a:endParaRPr>
              <a:latin typeface="Times New Roman"/>
              <a:ea typeface="Times New Roman"/>
              <a:cs typeface="Times New Roman"/>
              <a:sym typeface="Times New Roman"/>
            </a:endParaRPr>
          </a:p>
        </p:txBody>
      </p:sp>
      <p:pic>
        <p:nvPicPr>
          <p:cNvPr id="146" name="Google Shape;146;p26"/>
          <p:cNvPicPr preferRelativeResize="0"/>
          <p:nvPr/>
        </p:nvPicPr>
        <p:blipFill rotWithShape="1">
          <a:blip r:embed="rId3">
            <a:alphaModFix/>
          </a:blip>
          <a:srcRect b="15509" l="21071" r="22935" t="19950"/>
          <a:stretch/>
        </p:blipFill>
        <p:spPr>
          <a:xfrm>
            <a:off x="2645949" y="2287375"/>
            <a:ext cx="3661373" cy="2373800"/>
          </a:xfrm>
          <a:prstGeom prst="rect">
            <a:avLst/>
          </a:prstGeom>
          <a:noFill/>
          <a:ln>
            <a:noFill/>
          </a:ln>
        </p:spPr>
      </p:pic>
      <p:sp>
        <p:nvSpPr>
          <p:cNvPr id="147" name="Google Shape;147;p26"/>
          <p:cNvSpPr txBox="1"/>
          <p:nvPr/>
        </p:nvSpPr>
        <p:spPr>
          <a:xfrm>
            <a:off x="542850" y="1532900"/>
            <a:ext cx="7767900" cy="697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rgbClr val="0A0A0A"/>
                </a:solidFill>
                <a:highlight>
                  <a:srgbClr val="FFFFFF"/>
                </a:highlight>
                <a:latin typeface="Times New Roman"/>
                <a:ea typeface="Times New Roman"/>
                <a:cs typeface="Times New Roman"/>
                <a:sym typeface="Times New Roman"/>
              </a:rPr>
              <a:t>Accuracy is a fundamental metric used for evaluating the performance of a classification model. It tells us the proportion of correct predictions made by the model out of all predictions.</a:t>
            </a:r>
            <a:endParaRPr sz="1500">
              <a:solidFill>
                <a:srgbClr val="0A0A0A"/>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3. Precision score: </a:t>
            </a:r>
            <a:endParaRPr>
              <a:latin typeface="Times New Roman"/>
              <a:ea typeface="Times New Roman"/>
              <a:cs typeface="Times New Roman"/>
              <a:sym typeface="Times New Roman"/>
            </a:endParaRPr>
          </a:p>
        </p:txBody>
      </p:sp>
      <p:sp>
        <p:nvSpPr>
          <p:cNvPr id="153" name="Google Shape;153;p27"/>
          <p:cNvSpPr txBox="1"/>
          <p:nvPr/>
        </p:nvSpPr>
        <p:spPr>
          <a:xfrm>
            <a:off x="542850" y="1532900"/>
            <a:ext cx="7767900" cy="697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rgbClr val="0A0A0A"/>
                </a:solidFill>
                <a:highlight>
                  <a:srgbClr val="FFFFFF"/>
                </a:highlight>
                <a:latin typeface="Times New Roman"/>
                <a:ea typeface="Times New Roman"/>
                <a:cs typeface="Times New Roman"/>
                <a:sym typeface="Times New Roman"/>
              </a:rPr>
              <a:t>It measures how many of the positive predictions made by the model are actually correct. It's useful when the cost of false positives is high such as in medical diagnoses where predicting a disease when it’s not present can have serious consequences.</a:t>
            </a:r>
            <a:endParaRPr>
              <a:solidFill>
                <a:srgbClr val="0A0A0A"/>
              </a:solidFill>
              <a:latin typeface="Times New Roman"/>
              <a:ea typeface="Times New Roman"/>
              <a:cs typeface="Times New Roman"/>
              <a:sym typeface="Times New Roman"/>
            </a:endParaRPr>
          </a:p>
        </p:txBody>
      </p:sp>
      <p:pic>
        <p:nvPicPr>
          <p:cNvPr id="154" name="Google Shape;154;p27"/>
          <p:cNvPicPr preferRelativeResize="0"/>
          <p:nvPr/>
        </p:nvPicPr>
        <p:blipFill rotWithShape="1">
          <a:blip r:embed="rId3">
            <a:alphaModFix/>
          </a:blip>
          <a:srcRect b="12418" l="11575" r="14274" t="19982"/>
          <a:stretch/>
        </p:blipFill>
        <p:spPr>
          <a:xfrm>
            <a:off x="2601300" y="2487800"/>
            <a:ext cx="4233274" cy="21707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4</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 Recall Score </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160" name="Google Shape;160;p28"/>
          <p:cNvSpPr txBox="1"/>
          <p:nvPr/>
        </p:nvSpPr>
        <p:spPr>
          <a:xfrm>
            <a:off x="542850" y="1532900"/>
            <a:ext cx="7767900" cy="697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highlight>
                  <a:srgbClr val="FFFFFF"/>
                </a:highlight>
                <a:latin typeface="Times New Roman"/>
                <a:ea typeface="Times New Roman"/>
                <a:cs typeface="Times New Roman"/>
                <a:sym typeface="Times New Roman"/>
              </a:rPr>
              <a:t>Recall </a:t>
            </a:r>
            <a:r>
              <a:rPr lang="en">
                <a:solidFill>
                  <a:srgbClr val="273239"/>
                </a:solidFill>
                <a:highlight>
                  <a:srgbClr val="FFFFFF"/>
                </a:highlight>
                <a:latin typeface="Times New Roman"/>
                <a:ea typeface="Times New Roman"/>
                <a:cs typeface="Times New Roman"/>
                <a:sym typeface="Times New Roman"/>
              </a:rPr>
              <a:t>or Sensitivity measures how many of the actual positive cases were correctly identified by the model. It is important when missing a positive case (false negative) is more costly than false positives.</a:t>
            </a:r>
            <a:endParaRPr>
              <a:solidFill>
                <a:srgbClr val="0A0A0A"/>
              </a:solidFill>
              <a:latin typeface="Times New Roman"/>
              <a:ea typeface="Times New Roman"/>
              <a:cs typeface="Times New Roman"/>
              <a:sym typeface="Times New Roman"/>
            </a:endParaRPr>
          </a:p>
        </p:txBody>
      </p:sp>
      <p:pic>
        <p:nvPicPr>
          <p:cNvPr id="161" name="Google Shape;161;p28"/>
          <p:cNvPicPr preferRelativeResize="0"/>
          <p:nvPr/>
        </p:nvPicPr>
        <p:blipFill rotWithShape="1">
          <a:blip r:embed="rId3">
            <a:alphaModFix/>
          </a:blip>
          <a:srcRect b="11974" l="10947" r="16793" t="17958"/>
          <a:stretch/>
        </p:blipFill>
        <p:spPr>
          <a:xfrm>
            <a:off x="2206600" y="2230100"/>
            <a:ext cx="4493227" cy="24508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5</a:t>
            </a:r>
            <a:r>
              <a:rPr lang="en">
                <a:latin typeface="Times New Roman"/>
                <a:ea typeface="Times New Roman"/>
                <a:cs typeface="Times New Roman"/>
                <a:sym typeface="Times New Roman"/>
              </a:rPr>
              <a:t>. Specificity : </a:t>
            </a:r>
            <a:endParaRPr>
              <a:latin typeface="Times New Roman"/>
              <a:ea typeface="Times New Roman"/>
              <a:cs typeface="Times New Roman"/>
              <a:sym typeface="Times New Roman"/>
            </a:endParaRPr>
          </a:p>
        </p:txBody>
      </p:sp>
      <p:sp>
        <p:nvSpPr>
          <p:cNvPr id="167" name="Google Shape;167;p29"/>
          <p:cNvSpPr txBox="1"/>
          <p:nvPr/>
        </p:nvSpPr>
        <p:spPr>
          <a:xfrm>
            <a:off x="542850" y="1532900"/>
            <a:ext cx="7767900" cy="697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highlight>
                  <a:srgbClr val="FFFFFF"/>
                </a:highlight>
                <a:latin typeface="Times New Roman"/>
                <a:ea typeface="Times New Roman"/>
                <a:cs typeface="Times New Roman"/>
                <a:sym typeface="Times New Roman"/>
              </a:rPr>
              <a:t>Specificity </a:t>
            </a:r>
            <a:r>
              <a:rPr lang="en">
                <a:solidFill>
                  <a:srgbClr val="273239"/>
                </a:solidFill>
                <a:highlight>
                  <a:srgbClr val="FFFFFF"/>
                </a:highlight>
                <a:latin typeface="Times New Roman"/>
                <a:ea typeface="Times New Roman"/>
                <a:cs typeface="Times New Roman"/>
                <a:sym typeface="Times New Roman"/>
              </a:rPr>
              <a:t>measures how many of the actual negative cases were correctly identified by the model</a:t>
            </a:r>
            <a:endParaRPr>
              <a:solidFill>
                <a:srgbClr val="0A0A0A"/>
              </a:solidFill>
              <a:latin typeface="Times New Roman"/>
              <a:ea typeface="Times New Roman"/>
              <a:cs typeface="Times New Roman"/>
              <a:sym typeface="Times New Roman"/>
            </a:endParaRPr>
          </a:p>
        </p:txBody>
      </p:sp>
      <p:pic>
        <p:nvPicPr>
          <p:cNvPr id="168" name="Google Shape;168;p29"/>
          <p:cNvPicPr preferRelativeResize="0"/>
          <p:nvPr/>
        </p:nvPicPr>
        <p:blipFill>
          <a:blip r:embed="rId3">
            <a:alphaModFix/>
          </a:blip>
          <a:stretch>
            <a:fillRect/>
          </a:stretch>
        </p:blipFill>
        <p:spPr>
          <a:xfrm>
            <a:off x="1778950" y="2394050"/>
            <a:ext cx="5202076" cy="1558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