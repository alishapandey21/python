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Merriweather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3" roundtripDataSignature="AMtx7mg+kZFM6pppJ8+FgS6QJswoqWCt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-italic.fntdata"/><Relationship Id="rId30" Type="http://schemas.openxmlformats.org/officeDocument/2006/relationships/font" Target="fonts/Merriweather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Merriweath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8b34d5a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d8b34d5a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04a08467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e04a08467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8b34d5aa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d8b34d5aa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8b34d5aa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d8b34d5aa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8b34d5aa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d8b34d5aa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04a08467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e04a08467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04a08467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e04a08467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04a08467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e04a08467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19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19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0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1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0" name="Google Shape;20;p21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1" name="Google Shape;21;p21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2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Google Shape;26;p22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7" name="Google Shape;27;p2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2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23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4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24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6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6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26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7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PYTHON -2 </a:t>
            </a:r>
            <a:endParaRPr/>
          </a:p>
        </p:txBody>
      </p:sp>
      <p:sp>
        <p:nvSpPr>
          <p:cNvPr id="65" name="Google Shape;65;p1"/>
          <p:cNvSpPr txBox="1"/>
          <p:nvPr/>
        </p:nvSpPr>
        <p:spPr>
          <a:xfrm>
            <a:off x="6566450" y="4503825"/>
            <a:ext cx="2519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PRITU A PATEL</a:t>
            </a:r>
            <a:endParaRPr b="0" i="0" sz="21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8b34d5aa0_0_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is Decision Tree?</a:t>
            </a:r>
            <a:endParaRPr/>
          </a:p>
        </p:txBody>
      </p:sp>
      <p:sp>
        <p:nvSpPr>
          <p:cNvPr id="71" name="Google Shape;71;g3d8b34d5aa0_0_0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decision tree is a supervised learning algorithm used for both classification and regression tasks. 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 has a hierarchical tree structure which consists of a root node, branches, internal nodes and leaf nodes. 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 works like a flowchart that helps in making step-by-step decisions, where: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685800" marR="0" rtl="0" algn="l">
              <a:lnSpc>
                <a:spcPct val="158000"/>
              </a:lnSpc>
              <a:spcBef>
                <a:spcPts val="80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Internal nodes represent attribute tests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68580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Branches represent attribute values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68580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Leaf nodes represent final decisions or predictions.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is Decision Tree?</a:t>
            </a:r>
            <a:endParaRPr/>
          </a:p>
        </p:txBody>
      </p:sp>
      <p:sp>
        <p:nvSpPr>
          <p:cNvPr id="77" name="Google Shape;77;p2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decision tree splits data into smaller groups by asking a series of questions. Each question is based on a feature of the data.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 of it like a game of “20 questions”: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age &gt; 30?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income high?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the person bought before?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t/>
            </a:r>
            <a:endParaRPr b="0" i="0" sz="2150" u="none" cap="none" strike="noStrike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just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04a08467b_0_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Main component Decision Tree</a:t>
            </a:r>
            <a:endParaRPr/>
          </a:p>
        </p:txBody>
      </p:sp>
      <p:pic>
        <p:nvPicPr>
          <p:cNvPr id="83" name="Google Shape;83;g3e04a08467b_0_1"/>
          <p:cNvPicPr preferRelativeResize="0"/>
          <p:nvPr/>
        </p:nvPicPr>
        <p:blipFill rotWithShape="1">
          <a:blip r:embed="rId3">
            <a:alphaModFix/>
          </a:blip>
          <a:srcRect b="0" l="0" r="0" t="11778"/>
          <a:stretch/>
        </p:blipFill>
        <p:spPr>
          <a:xfrm>
            <a:off x="788425" y="1479450"/>
            <a:ext cx="7428150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8b34d5aa0_0_11"/>
          <p:cNvSpPr txBox="1"/>
          <p:nvPr>
            <p:ph type="title"/>
          </p:nvPr>
        </p:nvSpPr>
        <p:spPr>
          <a:xfrm>
            <a:off x="311700" y="517400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Main component Decision Tree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89" name="Google Shape;89;g3d8b34d5aa0_0_11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Root Node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starting point of the tree.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Represents the entire dataset.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decision is made here.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Internal Nodes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are decision points (questions).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node splits data based on a condition.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8b34d5aa0_0_17"/>
          <p:cNvSpPr txBox="1"/>
          <p:nvPr>
            <p:ph type="title"/>
          </p:nvPr>
        </p:nvSpPr>
        <p:spPr>
          <a:xfrm>
            <a:off x="311700" y="517400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Main component Decision Tree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95" name="Google Shape;95;g3d8b34d5aa0_0_17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Branches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outcomes of decisions (Yes/No, True/False).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 nodes and show the flow.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Leaf Nodes (Terminal Nodes)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output or prediction.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“Buy” or “Don’t Buy”.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8b34d5aa0_0_22"/>
          <p:cNvSpPr txBox="1"/>
          <p:nvPr>
            <p:ph type="title"/>
          </p:nvPr>
        </p:nvSpPr>
        <p:spPr>
          <a:xfrm>
            <a:off x="311700" y="517400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Working Decision Tree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01" name="Google Shape;101;g3d8b34d5aa0_0_22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How It Works (Simple Steps)</a:t>
            </a:r>
            <a:endParaRPr b="1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AutoNum type="arabicPeriod"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Pick the best feature to split the data.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AutoNum type="arabicPeriod"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Divide the dataset based on that feature.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AutoNum type="arabicPeriod"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the process for each subset.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AutoNum type="arabicPeriod"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Stop when: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○"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pure (all same class), or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○"/>
            </a:pPr>
            <a:r>
              <a:rPr b="0" i="0" lang="en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stopping rule is reached.</a:t>
            </a:r>
            <a:endParaRPr b="1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04a08467b_0_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Working Decision Tree</a:t>
            </a:r>
            <a:endParaRPr/>
          </a:p>
        </p:txBody>
      </p:sp>
      <p:pic>
        <p:nvPicPr>
          <p:cNvPr id="107" name="Google Shape;107;g3e04a08467b_0_7"/>
          <p:cNvPicPr preferRelativeResize="0"/>
          <p:nvPr/>
        </p:nvPicPr>
        <p:blipFill rotWithShape="1">
          <a:blip r:embed="rId3">
            <a:alphaModFix/>
          </a:blip>
          <a:srcRect b="0" l="0" r="0" t="13270"/>
          <a:stretch/>
        </p:blipFill>
        <p:spPr>
          <a:xfrm>
            <a:off x="548625" y="1390900"/>
            <a:ext cx="8046800" cy="348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113" name="Google Shape;1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950" y="1429425"/>
            <a:ext cx="7428150" cy="37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04a08467b_0_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19" name="Google Shape;119;g3e04a08467b_0_14"/>
          <p:cNvSpPr txBox="1"/>
          <p:nvPr/>
        </p:nvSpPr>
        <p:spPr>
          <a:xfrm>
            <a:off x="311700" y="1479450"/>
            <a:ext cx="8520600" cy="28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Root Node (Income)</a:t>
            </a:r>
            <a:endParaRPr b="1" i="0" sz="1800" u="none" cap="none" strike="noStrike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Question</a:t>
            </a:r>
            <a:r>
              <a:rPr b="0" i="0" lang="en" sz="1800" u="none" cap="none" strike="noStrike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0" lang="en" sz="1800" u="none" cap="none" strike="noStrike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"Is the person’s income greater than $50,000?"</a:t>
            </a:r>
            <a:endParaRPr b="1" i="0" sz="1800" u="none" cap="none" strike="noStrike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685800" marR="0" rtl="0" algn="l">
              <a:lnSpc>
                <a:spcPct val="158000"/>
              </a:lnSpc>
              <a:spcBef>
                <a:spcPts val="80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Yes, proceed to the next question.</a:t>
            </a:r>
            <a:endParaRPr b="0" i="0" sz="1800" u="none" cap="none" strike="noStrike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68580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No, predict "No Purchase" (leaf node).</a:t>
            </a:r>
            <a:endParaRPr b="0" i="0" sz="1800" u="none" cap="none" strike="noStrike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Internal Node (Age)</a:t>
            </a:r>
            <a:r>
              <a:rPr b="0" i="0" lang="en" sz="1800" u="none" cap="none" strike="noStrike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0" i="0" sz="1800" u="none" cap="none" strike="noStrike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person’s income is greater than $50,000</a:t>
            </a:r>
            <a:r>
              <a:rPr b="0" i="0" lang="en" sz="1800" u="none" cap="none" strike="noStrike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ask: </a:t>
            </a:r>
            <a:r>
              <a:rPr b="1" i="0" lang="en" sz="1800" u="none" cap="none" strike="noStrike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"Is the person’s age above 30?"</a:t>
            </a:r>
            <a:endParaRPr b="0" i="0" sz="1800" u="none" cap="none" strike="noStrike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04a08467b_0_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25" name="Google Shape;125;g3e04a08467b_0_22"/>
          <p:cNvSpPr txBox="1"/>
          <p:nvPr/>
        </p:nvSpPr>
        <p:spPr>
          <a:xfrm>
            <a:off x="90475" y="1355000"/>
            <a:ext cx="8832300" cy="3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68580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Yes, proceed to the next question.</a:t>
            </a:r>
            <a:endParaRPr b="0" i="0" sz="1800" u="none" cap="none" strike="noStrike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68580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No, predict "No Purchase" (leaf node).</a:t>
            </a:r>
            <a:endParaRPr b="0" i="0" sz="1800" u="none" cap="none" strike="noStrike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Internal Node (Previous Purchases)</a:t>
            </a:r>
            <a:r>
              <a:rPr b="0" i="0" lang="en" sz="1800" u="none" cap="none" strike="noStrike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0" i="0" sz="1800" u="none" cap="none" strike="noStrike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685800" marR="0" rtl="0" algn="l">
              <a:lnSpc>
                <a:spcPct val="158000"/>
              </a:lnSpc>
              <a:spcBef>
                <a:spcPts val="80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person is above 30 and has made previous purchases, predict "Purchase" (leaf node).</a:t>
            </a:r>
            <a:endParaRPr b="0" i="0" sz="1800" u="none" cap="none" strike="noStrike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68580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person is above 30 and has not made previous purchases, predict "No Purchase" (leaf node)</a:t>
            </a:r>
            <a:endParaRPr b="0" i="0" sz="1450" u="none" cap="none" strike="noStrike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Entropy</a:t>
            </a:r>
            <a:endParaRPr/>
          </a:p>
        </p:txBody>
      </p:sp>
      <p:sp>
        <p:nvSpPr>
          <p:cNvPr id="131" name="Google Shape;131;p7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Entropy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measure of 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uncertainty or impurity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a dataset.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all data belongs to one class → entropy = 0 (pure)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data is evenly mixed → entropy is high (maximum uncertainty)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7488" y="2907100"/>
            <a:ext cx="4192775" cy="14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Example of Entropy</a:t>
            </a:r>
            <a:endParaRPr/>
          </a:p>
        </p:txBody>
      </p:sp>
      <p:pic>
        <p:nvPicPr>
          <p:cNvPr id="138" name="Google Shape;13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513" y="1615475"/>
            <a:ext cx="8650974" cy="277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Implementing Decision Tree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9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1 : Import the Required Library 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" sz="165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from sklearn.tree import DecisionTreeClassifier</a:t>
            </a:r>
            <a:endParaRPr b="1" i="0" sz="20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	2: Load the Dataset (csv file)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3: Data Cleaning &amp; EDA (if required)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4: Feature Selection single x and y variable (for simple linear Regression) 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multiple features selection x and single y variable(for multilinear Regression)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5: Model Selection (Data Split on train and test data)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x_train,x_test,y_train,y_test = </a:t>
            </a: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train_test_split(x,y,test_size=0.2,random_state = 10)</a:t>
            </a:r>
            <a:endParaRPr b="1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Implementing Decision Tree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0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6 : Train the knn Model with assigning n_neighbors</a:t>
            </a:r>
            <a:endParaRPr b="1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DT= DecisionTreeClassifier(criterion='entropy',max_depth=3,random_state=10)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DT</a:t>
            </a:r>
            <a:r>
              <a:rPr b="0" i="0" lang="en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.fit(x_train,y_train)</a:t>
            </a:r>
            <a:endParaRPr b="0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7: Make Prediction</a:t>
            </a:r>
            <a:endParaRPr b="1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9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y_pred = DT.predict(x_test)</a:t>
            </a:r>
            <a:endParaRPr b="0" i="0" sz="19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